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sldIdLst>
    <p:sldId id="256" r:id="rId2"/>
    <p:sldId id="262" r:id="rId3"/>
    <p:sldId id="297" r:id="rId4"/>
    <p:sldId id="320" r:id="rId5"/>
    <p:sldId id="261" r:id="rId6"/>
    <p:sldId id="305" r:id="rId7"/>
    <p:sldId id="299" r:id="rId8"/>
    <p:sldId id="312" r:id="rId9"/>
    <p:sldId id="260" r:id="rId10"/>
    <p:sldId id="313" r:id="rId11"/>
    <p:sldId id="314" r:id="rId12"/>
    <p:sldId id="264" r:id="rId13"/>
    <p:sldId id="295" r:id="rId14"/>
    <p:sldId id="296" r:id="rId15"/>
    <p:sldId id="324" r:id="rId16"/>
    <p:sldId id="304" r:id="rId17"/>
    <p:sldId id="316" r:id="rId18"/>
    <p:sldId id="321" r:id="rId19"/>
    <p:sldId id="300" r:id="rId20"/>
    <p:sldId id="323" r:id="rId21"/>
    <p:sldId id="325" r:id="rId22"/>
    <p:sldId id="298" r:id="rId23"/>
    <p:sldId id="317" r:id="rId24"/>
    <p:sldId id="306" r:id="rId25"/>
    <p:sldId id="318" r:id="rId26"/>
    <p:sldId id="31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32" autoAdjust="0"/>
    <p:restoredTop sz="96433" autoAdjust="0"/>
  </p:normalViewPr>
  <p:slideViewPr>
    <p:cSldViewPr snapToGrid="0">
      <p:cViewPr varScale="1">
        <p:scale>
          <a:sx n="107" d="100"/>
          <a:sy n="107" d="100"/>
        </p:scale>
        <p:origin x="132" y="27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6494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94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792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10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500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994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06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55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6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1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7000">
              <a:schemeClr val="accent1">
                <a:lumMod val="20000"/>
                <a:lumOff val="80000"/>
              </a:schemeClr>
            </a:gs>
            <a:gs pos="84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95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none" spc="100" baseline="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31.png"/><Relationship Id="rId5" Type="http://schemas.openxmlformats.org/officeDocument/2006/relationships/image" Target="../media/image19.png"/><Relationship Id="rId10" Type="http://schemas.openxmlformats.org/officeDocument/2006/relationships/image" Target="../media/image30.png"/><Relationship Id="rId4" Type="http://schemas.openxmlformats.org/officeDocument/2006/relationships/image" Target="../media/image18.png"/><Relationship Id="rId9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5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0.png"/><Relationship Id="rId11" Type="http://schemas.openxmlformats.org/officeDocument/2006/relationships/image" Target="../media/image4.png"/><Relationship Id="rId5" Type="http://schemas.openxmlformats.org/officeDocument/2006/relationships/image" Target="../media/image770.png"/><Relationship Id="rId10" Type="http://schemas.openxmlformats.org/officeDocument/2006/relationships/image" Target="../media/image30.png"/><Relationship Id="rId4" Type="http://schemas.openxmlformats.org/officeDocument/2006/relationships/image" Target="../media/image760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11" Type="http://schemas.openxmlformats.org/officeDocument/2006/relationships/image" Target="../media/image6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39.png"/><Relationship Id="rId4" Type="http://schemas.openxmlformats.org/officeDocument/2006/relationships/image" Target="../media/image190.png"/><Relationship Id="rId9" Type="http://schemas.openxmlformats.org/officeDocument/2006/relationships/image" Target="../media/image38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43.png"/><Relationship Id="rId7" Type="http://schemas.openxmlformats.org/officeDocument/2006/relationships/image" Target="../media/image22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7" Type="http://schemas.openxmlformats.org/officeDocument/2006/relationships/image" Target="../media/image36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10.png"/><Relationship Id="rId5" Type="http://schemas.openxmlformats.org/officeDocument/2006/relationships/image" Target="../media/image1011.png"/><Relationship Id="rId4" Type="http://schemas.openxmlformats.org/officeDocument/2006/relationships/image" Target="../media/image9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47.png"/><Relationship Id="rId5" Type="http://schemas.openxmlformats.org/officeDocument/2006/relationships/image" Target="../media/image156.png"/><Relationship Id="rId10" Type="http://schemas.openxmlformats.org/officeDocument/2006/relationships/image" Target="../media/image30.png"/><Relationship Id="rId4" Type="http://schemas.openxmlformats.org/officeDocument/2006/relationships/image" Target="../media/image141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3" Type="http://schemas.openxmlformats.org/officeDocument/2006/relationships/image" Target="../media/image41.png"/><Relationship Id="rId12" Type="http://schemas.openxmlformats.org/officeDocument/2006/relationships/image" Target="../media/image4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30.png"/><Relationship Id="rId4" Type="http://schemas.openxmlformats.org/officeDocument/2006/relationships/image" Target="../media/image1410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53.png"/><Relationship Id="rId7" Type="http://schemas.openxmlformats.org/officeDocument/2006/relationships/image" Target="../media/image50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11" Type="http://schemas.openxmlformats.org/officeDocument/2006/relationships/image" Target="../media/image541.png"/><Relationship Id="rId5" Type="http://schemas.openxmlformats.org/officeDocument/2006/relationships/image" Target="../media/image480.png"/><Relationship Id="rId10" Type="http://schemas.openxmlformats.org/officeDocument/2006/relationships/image" Target="../media/image530.png"/><Relationship Id="rId4" Type="http://schemas.openxmlformats.org/officeDocument/2006/relationships/image" Target="../media/image470.png"/><Relationship Id="rId9" Type="http://schemas.openxmlformats.org/officeDocument/2006/relationships/image" Target="../media/image5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0.png"/><Relationship Id="rId7" Type="http://schemas.openxmlformats.org/officeDocument/2006/relationships/image" Target="../media/image58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63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0.png"/><Relationship Id="rId11" Type="http://schemas.openxmlformats.org/officeDocument/2006/relationships/image" Target="../media/image71.png"/><Relationship Id="rId5" Type="http://schemas.openxmlformats.org/officeDocument/2006/relationships/image" Target="../media/image66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9.png"/><Relationship Id="rId3" Type="http://schemas.openxmlformats.org/officeDocument/2006/relationships/image" Target="../media/image52.png"/><Relationship Id="rId7" Type="http://schemas.openxmlformats.org/officeDocument/2006/relationships/image" Target="../media/image82.png"/><Relationship Id="rId12" Type="http://schemas.openxmlformats.org/officeDocument/2006/relationships/image" Target="../media/image8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4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2.png"/><Relationship Id="rId8" Type="http://schemas.openxmlformats.org/officeDocument/2006/relationships/image" Target="../media/image761.png"/><Relationship Id="rId18" Type="http://schemas.openxmlformats.org/officeDocument/2006/relationships/image" Target="../media/image97.png"/><Relationship Id="rId3" Type="http://schemas.openxmlformats.org/officeDocument/2006/relationships/image" Target="../media/image880.png"/><Relationship Id="rId7" Type="http://schemas.openxmlformats.org/officeDocument/2006/relationships/image" Target="../media/image900.png"/><Relationship Id="rId12" Type="http://schemas.openxmlformats.org/officeDocument/2006/relationships/image" Target="../media/image771.png"/><Relationship Id="rId17" Type="http://schemas.openxmlformats.org/officeDocument/2006/relationships/image" Target="../media/image96.png"/><Relationship Id="rId2" Type="http://schemas.openxmlformats.org/officeDocument/2006/relationships/image" Target="../media/image870.png"/><Relationship Id="rId16" Type="http://schemas.openxmlformats.org/officeDocument/2006/relationships/image" Target="../media/image95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5" Type="http://schemas.openxmlformats.org/officeDocument/2006/relationships/image" Target="../media/image891.png"/><Relationship Id="rId15" Type="http://schemas.openxmlformats.org/officeDocument/2006/relationships/image" Target="../media/image93.png"/><Relationship Id="rId10" Type="http://schemas.openxmlformats.org/officeDocument/2006/relationships/image" Target="../media/image781.png"/><Relationship Id="rId19" Type="http://schemas.openxmlformats.org/officeDocument/2006/relationships/image" Target="../media/image850.png"/><Relationship Id="rId4" Type="http://schemas.openxmlformats.org/officeDocument/2006/relationships/image" Target="../media/image720.png"/><Relationship Id="rId14" Type="http://schemas.openxmlformats.org/officeDocument/2006/relationships/image" Target="../media/image92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8" Type="http://schemas.openxmlformats.org/officeDocument/2006/relationships/image" Target="../media/image761.png"/><Relationship Id="rId18" Type="http://schemas.openxmlformats.org/officeDocument/2006/relationships/image" Target="../media/image740.png"/><Relationship Id="rId3" Type="http://schemas.openxmlformats.org/officeDocument/2006/relationships/image" Target="../media/image100.png"/><Relationship Id="rId7" Type="http://schemas.openxmlformats.org/officeDocument/2006/relationships/image" Target="../media/image103.png"/><Relationship Id="rId12" Type="http://schemas.openxmlformats.org/officeDocument/2006/relationships/image" Target="../media/image771.png"/><Relationship Id="rId17" Type="http://schemas.openxmlformats.org/officeDocument/2006/relationships/image" Target="../media/image108.png"/><Relationship Id="rId2" Type="http://schemas.openxmlformats.org/officeDocument/2006/relationships/image" Target="../media/image99.png"/><Relationship Id="rId16" Type="http://schemas.openxmlformats.org/officeDocument/2006/relationships/image" Target="../media/image107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5" Type="http://schemas.openxmlformats.org/officeDocument/2006/relationships/image" Target="../media/image106.png"/><Relationship Id="rId10" Type="http://schemas.openxmlformats.org/officeDocument/2006/relationships/image" Target="../media/image781.png"/><Relationship Id="rId19" Type="http://schemas.openxmlformats.org/officeDocument/2006/relationships/image" Target="../media/image109.png"/><Relationship Id="rId4" Type="http://schemas.openxmlformats.org/officeDocument/2006/relationships/image" Target="../media/image720.png"/><Relationship Id="rId14" Type="http://schemas.openxmlformats.org/officeDocument/2006/relationships/image" Target="../media/image10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image" Target="../media/image400.png"/><Relationship Id="rId7" Type="http://schemas.openxmlformats.org/officeDocument/2006/relationships/image" Target="../media/image922.png"/><Relationship Id="rId12" Type="http://schemas.openxmlformats.org/officeDocument/2006/relationships/image" Target="../media/image112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1.png"/><Relationship Id="rId11" Type="http://schemas.openxmlformats.org/officeDocument/2006/relationships/image" Target="../media/image111.png"/><Relationship Id="rId5" Type="http://schemas.openxmlformats.org/officeDocument/2006/relationships/image" Target="../media/image420.png"/><Relationship Id="rId10" Type="http://schemas.openxmlformats.org/officeDocument/2006/relationships/image" Target="../media/image961.png"/><Relationship Id="rId4" Type="http://schemas.openxmlformats.org/officeDocument/2006/relationships/image" Target="../media/image411.png"/><Relationship Id="rId9" Type="http://schemas.openxmlformats.org/officeDocument/2006/relationships/image" Target="../media/image953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3" Type="http://schemas.openxmlformats.org/officeDocument/2006/relationships/image" Target="../media/image114.png"/><Relationship Id="rId7" Type="http://schemas.openxmlformats.org/officeDocument/2006/relationships/image" Target="../media/image116.png"/><Relationship Id="rId12" Type="http://schemas.openxmlformats.org/officeDocument/2006/relationships/image" Target="../media/image921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90.png"/><Relationship Id="rId11" Type="http://schemas.openxmlformats.org/officeDocument/2006/relationships/image" Target="../media/image117.png"/><Relationship Id="rId5" Type="http://schemas.openxmlformats.org/officeDocument/2006/relationships/image" Target="../media/image115.png"/><Relationship Id="rId10" Type="http://schemas.openxmlformats.org/officeDocument/2006/relationships/image" Target="../media/image781.png"/><Relationship Id="rId4" Type="http://schemas.openxmlformats.org/officeDocument/2006/relationships/image" Target="../media/image7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1.png"/><Relationship Id="rId7" Type="http://schemas.openxmlformats.org/officeDocument/2006/relationships/image" Target="../media/image123.png"/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1.png"/><Relationship Id="rId9" Type="http://schemas.openxmlformats.org/officeDocument/2006/relationships/image" Target="../media/image1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2.png"/><Relationship Id="rId21" Type="http://schemas.openxmlformats.org/officeDocument/2006/relationships/image" Target="../media/image1060.png"/><Relationship Id="rId34" Type="http://schemas.openxmlformats.org/officeDocument/2006/relationships/image" Target="../media/image1012.png"/><Relationship Id="rId7" Type="http://schemas.openxmlformats.org/officeDocument/2006/relationships/image" Target="../media/image972.png"/><Relationship Id="rId33" Type="http://schemas.openxmlformats.org/officeDocument/2006/relationships/image" Target="../media/image1000.png"/><Relationship Id="rId2" Type="http://schemas.openxmlformats.org/officeDocument/2006/relationships/image" Target="../media/image952.png"/><Relationship Id="rId20" Type="http://schemas.openxmlformats.org/officeDocument/2006/relationships/image" Target="../media/image1050.png"/><Relationship Id="rId29" Type="http://schemas.openxmlformats.org/officeDocument/2006/relationships/image" Target="../media/image11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60.png"/><Relationship Id="rId11" Type="http://schemas.openxmlformats.org/officeDocument/2006/relationships/image" Target="../media/image861.png"/><Relationship Id="rId32" Type="http://schemas.openxmlformats.org/officeDocument/2006/relationships/image" Target="../media/image1180.png"/><Relationship Id="rId5" Type="http://schemas.openxmlformats.org/officeDocument/2006/relationships/image" Target="../media/image811.png"/><Relationship Id="rId28" Type="http://schemas.openxmlformats.org/officeDocument/2006/relationships/image" Target="../media/image1140.png"/><Relationship Id="rId36" Type="http://schemas.openxmlformats.org/officeDocument/2006/relationships/image" Target="../media/image1031.png"/><Relationship Id="rId10" Type="http://schemas.openxmlformats.org/officeDocument/2006/relationships/image" Target="../media/image991.png"/><Relationship Id="rId31" Type="http://schemas.openxmlformats.org/officeDocument/2006/relationships/image" Target="../media/image1170.png"/><Relationship Id="rId4" Type="http://schemas.openxmlformats.org/officeDocument/2006/relationships/image" Target="../media/image800.png"/><Relationship Id="rId9" Type="http://schemas.openxmlformats.org/officeDocument/2006/relationships/image" Target="../media/image920.png"/><Relationship Id="rId30" Type="http://schemas.openxmlformats.org/officeDocument/2006/relationships/image" Target="../media/image1160.png"/><Relationship Id="rId22" Type="http://schemas.openxmlformats.org/officeDocument/2006/relationships/image" Target="../media/image1070.png"/><Relationship Id="rId35" Type="http://schemas.openxmlformats.org/officeDocument/2006/relationships/image" Target="../media/image10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1.png"/><Relationship Id="rId13" Type="http://schemas.openxmlformats.org/officeDocument/2006/relationships/image" Target="../media/image970.png"/><Relationship Id="rId18" Type="http://schemas.openxmlformats.org/officeDocument/2006/relationships/image" Target="../media/image1030.png"/><Relationship Id="rId26" Type="http://schemas.openxmlformats.org/officeDocument/2006/relationships/image" Target="../media/image130.png"/><Relationship Id="rId3" Type="http://schemas.openxmlformats.org/officeDocument/2006/relationships/image" Target="../media/image790.png"/><Relationship Id="rId21" Type="http://schemas.openxmlformats.org/officeDocument/2006/relationships/image" Target="../media/image1060.png"/><Relationship Id="rId34" Type="http://schemas.openxmlformats.org/officeDocument/2006/relationships/image" Target="../media/image1111.png"/><Relationship Id="rId7" Type="http://schemas.openxmlformats.org/officeDocument/2006/relationships/image" Target="../media/image951.png"/><Relationship Id="rId12" Type="http://schemas.openxmlformats.org/officeDocument/2006/relationships/image" Target="../media/image950.png"/><Relationship Id="rId17" Type="http://schemas.openxmlformats.org/officeDocument/2006/relationships/image" Target="../media/image1020.png"/><Relationship Id="rId25" Type="http://schemas.openxmlformats.org/officeDocument/2006/relationships/image" Target="../media/image129.png"/><Relationship Id="rId33" Type="http://schemas.openxmlformats.org/officeDocument/2006/relationships/image" Target="../media/image1190.png"/><Relationship Id="rId16" Type="http://schemas.openxmlformats.org/officeDocument/2006/relationships/image" Target="../media/image1010.png"/><Relationship Id="rId20" Type="http://schemas.openxmlformats.org/officeDocument/2006/relationships/image" Target="../media/image10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40.png"/><Relationship Id="rId11" Type="http://schemas.openxmlformats.org/officeDocument/2006/relationships/image" Target="../media/image861.png"/><Relationship Id="rId24" Type="http://schemas.openxmlformats.org/officeDocument/2006/relationships/image" Target="../media/image128.png"/><Relationship Id="rId32" Type="http://schemas.openxmlformats.org/officeDocument/2006/relationships/image" Target="../media/image1180.png"/><Relationship Id="rId5" Type="http://schemas.openxmlformats.org/officeDocument/2006/relationships/image" Target="../media/image811.png"/><Relationship Id="rId15" Type="http://schemas.openxmlformats.org/officeDocument/2006/relationships/image" Target="../media/image990.png"/><Relationship Id="rId23" Type="http://schemas.openxmlformats.org/officeDocument/2006/relationships/image" Target="../media/image127.png"/><Relationship Id="rId36" Type="http://schemas.openxmlformats.org/officeDocument/2006/relationships/image" Target="../media/image1212.png"/><Relationship Id="rId10" Type="http://schemas.openxmlformats.org/officeDocument/2006/relationships/image" Target="../media/image981.png"/><Relationship Id="rId19" Type="http://schemas.openxmlformats.org/officeDocument/2006/relationships/image" Target="../media/image1040.png"/><Relationship Id="rId4" Type="http://schemas.openxmlformats.org/officeDocument/2006/relationships/image" Target="../media/image800.png"/><Relationship Id="rId9" Type="http://schemas.openxmlformats.org/officeDocument/2006/relationships/image" Target="../media/image920.png"/><Relationship Id="rId14" Type="http://schemas.openxmlformats.org/officeDocument/2006/relationships/image" Target="../media/image980.png"/><Relationship Id="rId22" Type="http://schemas.openxmlformats.org/officeDocument/2006/relationships/image" Target="../media/image1070.png"/><Relationship Id="rId27" Type="http://schemas.openxmlformats.org/officeDocument/2006/relationships/image" Target="../media/image1130.png"/><Relationship Id="rId35" Type="http://schemas.openxmlformats.org/officeDocument/2006/relationships/image" Target="../media/image120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26" Type="http://schemas.openxmlformats.org/officeDocument/2006/relationships/image" Target="../media/image131.png"/><Relationship Id="rId3" Type="http://schemas.openxmlformats.org/officeDocument/2006/relationships/image" Target="../media/image1211.png"/><Relationship Id="rId21" Type="http://schemas.openxmlformats.org/officeDocument/2006/relationships/image" Target="../media/image1060.png"/><Relationship Id="rId34" Type="http://schemas.openxmlformats.org/officeDocument/2006/relationships/image" Target="../media/image139.png"/><Relationship Id="rId7" Type="http://schemas.openxmlformats.org/officeDocument/2006/relationships/image" Target="../media/image1250.png"/><Relationship Id="rId25" Type="http://schemas.openxmlformats.org/officeDocument/2006/relationships/image" Target="../media/image1300.png"/><Relationship Id="rId33" Type="http://schemas.openxmlformats.org/officeDocument/2006/relationships/image" Target="../media/image138.png"/><Relationship Id="rId2" Type="http://schemas.openxmlformats.org/officeDocument/2006/relationships/image" Target="../media/image1100.png"/><Relationship Id="rId20" Type="http://schemas.openxmlformats.org/officeDocument/2006/relationships/image" Target="../media/image1050.png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40.png"/><Relationship Id="rId24" Type="http://schemas.openxmlformats.org/officeDocument/2006/relationships/image" Target="../media/image1290.png"/><Relationship Id="rId32" Type="http://schemas.openxmlformats.org/officeDocument/2006/relationships/image" Target="../media/image137.png"/><Relationship Id="rId5" Type="http://schemas.openxmlformats.org/officeDocument/2006/relationships/image" Target="../media/image1230.png"/><Relationship Id="rId23" Type="http://schemas.openxmlformats.org/officeDocument/2006/relationships/image" Target="../media/image1280.png"/><Relationship Id="rId28" Type="http://schemas.openxmlformats.org/officeDocument/2006/relationships/image" Target="../media/image133.png"/><Relationship Id="rId31" Type="http://schemas.openxmlformats.org/officeDocument/2006/relationships/image" Target="../media/image136.png"/><Relationship Id="rId4" Type="http://schemas.openxmlformats.org/officeDocument/2006/relationships/image" Target="../media/image1220.png"/><Relationship Id="rId9" Type="http://schemas.openxmlformats.org/officeDocument/2006/relationships/image" Target="../media/image1270.png"/><Relationship Id="rId22" Type="http://schemas.openxmlformats.org/officeDocument/2006/relationships/image" Target="../media/image1070.png"/><Relationship Id="rId27" Type="http://schemas.openxmlformats.org/officeDocument/2006/relationships/image" Target="../media/image132.png"/><Relationship Id="rId30" Type="http://schemas.openxmlformats.org/officeDocument/2006/relationships/image" Target="../media/image135.png"/><Relationship Id="rId35" Type="http://schemas.openxmlformats.org/officeDocument/2006/relationships/image" Target="../media/image1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26" Type="http://schemas.openxmlformats.org/officeDocument/2006/relationships/image" Target="../media/image147.png"/><Relationship Id="rId3" Type="http://schemas.openxmlformats.org/officeDocument/2006/relationships/image" Target="../media/image1211.png"/><Relationship Id="rId21" Type="http://schemas.openxmlformats.org/officeDocument/2006/relationships/image" Target="../media/image1060.png"/><Relationship Id="rId7" Type="http://schemas.openxmlformats.org/officeDocument/2006/relationships/image" Target="../media/image142.png"/><Relationship Id="rId25" Type="http://schemas.openxmlformats.org/officeDocument/2006/relationships/image" Target="../media/image146.png"/><Relationship Id="rId2" Type="http://schemas.openxmlformats.org/officeDocument/2006/relationships/image" Target="../media/image141.png"/><Relationship Id="rId20" Type="http://schemas.openxmlformats.org/officeDocument/2006/relationships/image" Target="../media/image1050.png"/><Relationship Id="rId29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40.png"/><Relationship Id="rId24" Type="http://schemas.openxmlformats.org/officeDocument/2006/relationships/image" Target="../media/image145.png"/><Relationship Id="rId32" Type="http://schemas.openxmlformats.org/officeDocument/2006/relationships/image" Target="../media/image154.png"/><Relationship Id="rId5" Type="http://schemas.openxmlformats.org/officeDocument/2006/relationships/image" Target="../media/image1230.png"/><Relationship Id="rId23" Type="http://schemas.openxmlformats.org/officeDocument/2006/relationships/image" Target="../media/image1280.png"/><Relationship Id="rId28" Type="http://schemas.openxmlformats.org/officeDocument/2006/relationships/image" Target="../media/image149.png"/><Relationship Id="rId31" Type="http://schemas.openxmlformats.org/officeDocument/2006/relationships/image" Target="../media/image153.png"/><Relationship Id="rId4" Type="http://schemas.openxmlformats.org/officeDocument/2006/relationships/image" Target="../media/image1220.png"/><Relationship Id="rId9" Type="http://schemas.openxmlformats.org/officeDocument/2006/relationships/image" Target="../media/image144.png"/><Relationship Id="rId22" Type="http://schemas.openxmlformats.org/officeDocument/2006/relationships/image" Target="../media/image1070.png"/><Relationship Id="rId27" Type="http://schemas.openxmlformats.org/officeDocument/2006/relationships/image" Target="../media/image148.png"/><Relationship Id="rId30" Type="http://schemas.openxmlformats.org/officeDocument/2006/relationships/image" Target="../media/image1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5998128" y="4341412"/>
            <a:ext cx="5082673" cy="1665105"/>
          </a:xfrm>
        </p:spPr>
        <p:txBody>
          <a:bodyPr>
            <a:noAutofit/>
          </a:bodyPr>
          <a:lstStyle/>
          <a:p>
            <a:r>
              <a:rPr lang="en-US" sz="3600" u="sng" dirty="0">
                <a:ln w="0"/>
                <a:solidFill>
                  <a:srgbClr val="002060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Shimin Li </a:t>
            </a:r>
            <a:r>
              <a:rPr lang="en-US" sz="3600" dirty="0">
                <a:ln w="0"/>
                <a:solidFill>
                  <a:srgbClr val="002060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and Haitao Wang</a:t>
            </a:r>
          </a:p>
          <a:p>
            <a:pPr>
              <a:lnSpc>
                <a:spcPct val="150000"/>
              </a:lnSpc>
            </a:pPr>
            <a:r>
              <a:rPr lang="en-US" sz="3600" spc="50" dirty="0">
                <a:ln w="0">
                  <a:solidFill>
                    <a:srgbClr val="002060"/>
                  </a:solidFill>
                </a:ln>
                <a:solidFill>
                  <a:srgbClr val="002060"/>
                </a:solidFill>
                <a:effectLst>
                  <a:innerShdw blurRad="114300">
                    <a:prstClr val="black"/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Utah State University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415822" y="1328673"/>
            <a:ext cx="9435679" cy="2263775"/>
          </a:xfrm>
        </p:spPr>
        <p:txBody>
          <a:bodyPr>
            <a:noAutofit/>
          </a:bodyPr>
          <a:lstStyle/>
          <a:p>
            <a:r>
              <a:rPr lang="en-US" sz="5400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arajita" panose="020B0604020202020204" pitchFamily="34" charset="0"/>
                <a:cs typeface="Aparajita" panose="020B0604020202020204" pitchFamily="34" charset="0"/>
              </a:rPr>
              <a:t>Dispersing Points on Intervals</a:t>
            </a:r>
          </a:p>
        </p:txBody>
      </p:sp>
    </p:spTree>
    <p:extLst>
      <p:ext uri="{BB962C8B-B14F-4D97-AF65-F5344CB8AC3E}">
        <p14:creationId xmlns:p14="http://schemas.microsoft.com/office/powerpoint/2010/main" val="242440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4128" y="2520200"/>
            <a:ext cx="990451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a </a:t>
            </a:r>
            <a:r>
              <a:rPr lang="en-US" sz="28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point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each interval.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3287553"/>
            <a:ext cx="94233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Objective: </a:t>
            </a:r>
            <a:r>
              <a:rPr lang="en-US" sz="28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Maximize the minimum distance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any pairwise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024128" y="1968291"/>
                <a:ext cx="1015843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non-overlapping intervals</a:t>
                </a: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a </a:t>
                </a:r>
                <a:r>
                  <a:rPr lang="en-US" sz="2800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line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1968291"/>
                <a:ext cx="10158434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200" t="-1395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758551" y="5517171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23900" y="5517171"/>
            <a:ext cx="134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982511" y="5517171"/>
            <a:ext cx="103594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213538" y="5517171"/>
            <a:ext cx="2125557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489188" y="5517171"/>
            <a:ext cx="18358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39157" y="4870840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57" y="4870840"/>
                <a:ext cx="550151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489387" y="4839574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387" y="4839574"/>
                <a:ext cx="61061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190429" y="4839574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429" y="4839574"/>
                <a:ext cx="620106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097065" y="4839574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065" y="4839574"/>
                <a:ext cx="620106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966263" y="4839575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263" y="4839575"/>
                <a:ext cx="620106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848093" y="5424349"/>
            <a:ext cx="695382" cy="674133"/>
            <a:chOff x="676437" y="3263442"/>
            <a:chExt cx="695382" cy="674133"/>
          </a:xfrm>
        </p:grpSpPr>
        <p:sp>
          <p:nvSpPr>
            <p:cNvPr id="17" name="Oval 16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/>
          <p:cNvGrpSpPr/>
          <p:nvPr/>
        </p:nvGrpSpPr>
        <p:grpSpPr>
          <a:xfrm>
            <a:off x="5484932" y="5424349"/>
            <a:ext cx="704872" cy="674133"/>
            <a:chOff x="676437" y="3263442"/>
            <a:chExt cx="704872" cy="674133"/>
          </a:xfrm>
        </p:grpSpPr>
        <p:sp>
          <p:nvSpPr>
            <p:cNvPr id="20" name="Oval 1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4671593" y="5424349"/>
            <a:ext cx="704872" cy="674133"/>
            <a:chOff x="676437" y="3263442"/>
            <a:chExt cx="704872" cy="674133"/>
          </a:xfrm>
        </p:grpSpPr>
        <p:sp>
          <p:nvSpPr>
            <p:cNvPr id="24" name="Oval 23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10586369" y="5424349"/>
            <a:ext cx="701859" cy="674133"/>
            <a:chOff x="676437" y="3263442"/>
            <a:chExt cx="701859" cy="674133"/>
          </a:xfrm>
        </p:grpSpPr>
        <p:sp>
          <p:nvSpPr>
            <p:cNvPr id="27" name="Oval 26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676437" y="3352800"/>
                  <a:ext cx="70185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1" name="Rectangle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1859" cy="584775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6600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1" grpId="0"/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Cycle Version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376086" y="2191264"/>
            <a:ext cx="4053018" cy="4053017"/>
            <a:chOff x="5387546" y="2388972"/>
            <a:chExt cx="4053018" cy="4053017"/>
          </a:xfrm>
        </p:grpSpPr>
        <p:grpSp>
          <p:nvGrpSpPr>
            <p:cNvPr id="11" name="Group 10"/>
            <p:cNvGrpSpPr/>
            <p:nvPr/>
          </p:nvGrpSpPr>
          <p:grpSpPr>
            <a:xfrm>
              <a:off x="5387546" y="2388973"/>
              <a:ext cx="4053018" cy="4053016"/>
              <a:chOff x="5387546" y="2388973"/>
              <a:chExt cx="4053018" cy="4053016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5387546" y="2388973"/>
                <a:ext cx="4053016" cy="405301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Arc 5"/>
              <p:cNvSpPr/>
              <p:nvPr/>
            </p:nvSpPr>
            <p:spPr>
              <a:xfrm>
                <a:off x="5387546" y="2388973"/>
                <a:ext cx="4053016" cy="4053016"/>
              </a:xfrm>
              <a:prstGeom prst="arc">
                <a:avLst>
                  <a:gd name="adj1" fmla="val 16994431"/>
                  <a:gd name="adj2" fmla="val 19612188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" name="Arc 6"/>
              <p:cNvSpPr/>
              <p:nvPr/>
            </p:nvSpPr>
            <p:spPr>
              <a:xfrm rot="17093866">
                <a:off x="5387546" y="2388973"/>
                <a:ext cx="4053016" cy="4053016"/>
              </a:xfrm>
              <a:prstGeom prst="arc">
                <a:avLst>
                  <a:gd name="adj1" fmla="val 17814517"/>
                  <a:gd name="adj2" fmla="val 19612188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" name="Arc 9"/>
              <p:cNvSpPr/>
              <p:nvPr/>
            </p:nvSpPr>
            <p:spPr>
              <a:xfrm rot="4459269">
                <a:off x="5387548" y="2388973"/>
                <a:ext cx="4053016" cy="4053016"/>
              </a:xfrm>
              <a:prstGeom prst="arc">
                <a:avLst>
                  <a:gd name="adj1" fmla="val 16227188"/>
                  <a:gd name="adj2" fmla="val 17873996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8" name="Arc 7"/>
            <p:cNvSpPr/>
            <p:nvPr/>
          </p:nvSpPr>
          <p:spPr>
            <a:xfrm rot="12494633">
              <a:off x="5387547" y="2388972"/>
              <a:ext cx="4053016" cy="4053016"/>
            </a:xfrm>
            <a:prstGeom prst="arc">
              <a:avLst>
                <a:gd name="adj1" fmla="val 16227188"/>
                <a:gd name="adj2" fmla="val 19612188"/>
              </a:avLst>
            </a:prstGeom>
            <a:ln w="38100">
              <a:headEnd type="diamond" w="med" len="med"/>
              <a:tailEnd type="diamond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104739" y="2973157"/>
                <a:ext cx="5271347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a cycle version, the intervals are arcs on a </a:t>
                </a:r>
                <a:r>
                  <a:rPr lang="en-US" sz="3600" b="1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cycle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𝑪</m:t>
                    </m:r>
                  </m:oMath>
                </a14:m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739" y="2973157"/>
                <a:ext cx="5271347" cy="1754326"/>
              </a:xfrm>
              <a:prstGeom prst="rect">
                <a:avLst/>
              </a:prstGeom>
              <a:blipFill>
                <a:blip r:embed="rId2"/>
                <a:stretch>
                  <a:fillRect l="-3468" t="-5556" r="-2543" b="-12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0407578" y="3806224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7578" y="3806224"/>
                <a:ext cx="620106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795391" y="1945796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91" y="1945796"/>
                <a:ext cx="61061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9508626" y="2037917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626" y="2037917"/>
                <a:ext cx="620106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235828" y="5127550"/>
                <a:ext cx="6201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828" y="5127550"/>
                <a:ext cx="620105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6642843" y="2776044"/>
            <a:ext cx="695382" cy="674133"/>
            <a:chOff x="676437" y="3263442"/>
            <a:chExt cx="695382" cy="674133"/>
          </a:xfrm>
        </p:grpSpPr>
        <p:sp>
          <p:nvSpPr>
            <p:cNvPr id="20" name="Oval 1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9752840" y="4383668"/>
            <a:ext cx="737670" cy="584775"/>
            <a:chOff x="311090" y="3109817"/>
            <a:chExt cx="737670" cy="584775"/>
          </a:xfrm>
        </p:grpSpPr>
        <p:sp>
          <p:nvSpPr>
            <p:cNvPr id="23" name="Oval 22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311090" y="3109817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090" y="3109817"/>
                  <a:ext cx="704872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/>
          <p:cNvGrpSpPr/>
          <p:nvPr/>
        </p:nvGrpSpPr>
        <p:grpSpPr>
          <a:xfrm>
            <a:off x="9223802" y="2438977"/>
            <a:ext cx="704872" cy="674133"/>
            <a:chOff x="676437" y="3263442"/>
            <a:chExt cx="704872" cy="674133"/>
          </a:xfrm>
        </p:grpSpPr>
        <p:sp>
          <p:nvSpPr>
            <p:cNvPr id="26" name="Oval 2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/>
          <p:cNvGrpSpPr/>
          <p:nvPr/>
        </p:nvGrpSpPr>
        <p:grpSpPr>
          <a:xfrm>
            <a:off x="6698610" y="4782653"/>
            <a:ext cx="741784" cy="736842"/>
            <a:chOff x="870044" y="2705316"/>
            <a:chExt cx="741784" cy="736842"/>
          </a:xfrm>
        </p:grpSpPr>
        <p:sp>
          <p:nvSpPr>
            <p:cNvPr id="29" name="Oval 2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909969" y="2705316"/>
                  <a:ext cx="70185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969" y="2705316"/>
                  <a:ext cx="701859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3648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 and Our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1721" y="2664488"/>
            <a:ext cx="8518209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Two or high-dimensional space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Many problem variations, NP-hard in general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1D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previous work particularly on 1D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571721" y="5581485"/>
                <a:ext cx="985221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sz="28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lvl1pPr>
              </a:lstStyle>
              <a:p>
                <a:r>
                  <a:rPr lang="en-US" dirty="0"/>
                  <a:t>An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greedy algorithm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721" y="5581485"/>
                <a:ext cx="9852212" cy="523220"/>
              </a:xfrm>
              <a:prstGeom prst="rect">
                <a:avLst/>
              </a:prstGeom>
              <a:blipFill>
                <a:blip r:embed="rId2"/>
                <a:stretch>
                  <a:fillRect l="-1300" t="-14118" b="-3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585720" y="1971418"/>
            <a:ext cx="29463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Previous Work:</a:t>
            </a:r>
          </a:p>
        </p:txBody>
      </p:sp>
      <p:sp>
        <p:nvSpPr>
          <p:cNvPr id="8" name="Rectangle 7"/>
          <p:cNvSpPr/>
          <p:nvPr/>
        </p:nvSpPr>
        <p:spPr>
          <a:xfrm>
            <a:off x="588617" y="4837983"/>
            <a:ext cx="4254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Our Result (for 1D):</a:t>
            </a:r>
          </a:p>
        </p:txBody>
      </p:sp>
    </p:spTree>
    <p:extLst>
      <p:ext uri="{BB962C8B-B14F-4D97-AF65-F5344CB8AC3E}">
        <p14:creationId xmlns:p14="http://schemas.microsoft.com/office/powerpoint/2010/main" val="124989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Example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713728" y="3105665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079077" y="3105665"/>
            <a:ext cx="134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937688" y="3105665"/>
            <a:ext cx="103594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168715" y="3105665"/>
            <a:ext cx="2125557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444365" y="3105665"/>
            <a:ext cx="18358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94334" y="2459334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34" y="2459334"/>
                <a:ext cx="550151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444564" y="2428068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564" y="2428068"/>
                <a:ext cx="610616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145606" y="2428068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606" y="2428068"/>
                <a:ext cx="62010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6052242" y="2428068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242" y="2428068"/>
                <a:ext cx="620106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9921440" y="2428069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440" y="2428069"/>
                <a:ext cx="620106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>
            <a:off x="1814744" y="3012843"/>
            <a:ext cx="695382" cy="674133"/>
            <a:chOff x="676437" y="3263442"/>
            <a:chExt cx="695382" cy="674133"/>
          </a:xfrm>
        </p:grpSpPr>
        <p:sp>
          <p:nvSpPr>
            <p:cNvPr id="6" name="Oval 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Group 62"/>
          <p:cNvGrpSpPr/>
          <p:nvPr/>
        </p:nvGrpSpPr>
        <p:grpSpPr>
          <a:xfrm>
            <a:off x="5173796" y="3012843"/>
            <a:ext cx="704872" cy="674133"/>
            <a:chOff x="676437" y="3263442"/>
            <a:chExt cx="704872" cy="674133"/>
          </a:xfrm>
        </p:grpSpPr>
        <p:sp>
          <p:nvSpPr>
            <p:cNvPr id="64" name="Oval 63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/>
          <p:cNvGrpSpPr/>
          <p:nvPr/>
        </p:nvGrpSpPr>
        <p:grpSpPr>
          <a:xfrm>
            <a:off x="4490289" y="3012843"/>
            <a:ext cx="704872" cy="674133"/>
            <a:chOff x="676437" y="3263442"/>
            <a:chExt cx="704872" cy="674133"/>
          </a:xfrm>
        </p:grpSpPr>
        <p:sp>
          <p:nvSpPr>
            <p:cNvPr id="67" name="Oval 66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/>
          <p:cNvGrpSpPr/>
          <p:nvPr/>
        </p:nvGrpSpPr>
        <p:grpSpPr>
          <a:xfrm>
            <a:off x="10541546" y="3012843"/>
            <a:ext cx="701859" cy="674133"/>
            <a:chOff x="676437" y="3263442"/>
            <a:chExt cx="701859" cy="674133"/>
          </a:xfrm>
        </p:grpSpPr>
        <p:sp>
          <p:nvSpPr>
            <p:cNvPr id="70" name="Oval 6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/>
                <p:cNvSpPr/>
                <p:nvPr/>
              </p:nvSpPr>
              <p:spPr>
                <a:xfrm>
                  <a:off x="676437" y="3352800"/>
                  <a:ext cx="70185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1" name="Rectangle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1859" cy="58477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Left Brace 71"/>
          <p:cNvSpPr/>
          <p:nvPr/>
        </p:nvSpPr>
        <p:spPr>
          <a:xfrm rot="16200000">
            <a:off x="2450135" y="2495982"/>
            <a:ext cx="324414" cy="3066527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73" name="Left Brace 72"/>
          <p:cNvSpPr/>
          <p:nvPr/>
        </p:nvSpPr>
        <p:spPr>
          <a:xfrm rot="16200000">
            <a:off x="5547649" y="2461532"/>
            <a:ext cx="324414" cy="3128499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2510126" y="5242943"/>
                <a:ext cx="816505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b="0" dirty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minimum distance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3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=|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3600" dirty="0">
                  <a:solidFill>
                    <a:srgbClr val="00206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126" y="5242943"/>
                <a:ext cx="8165056" cy="584775"/>
              </a:xfrm>
              <a:prstGeom prst="rect">
                <a:avLst/>
              </a:prstGeom>
              <a:blipFill>
                <a:blip r:embed="rId11"/>
                <a:stretch>
                  <a:fillRect l="-1942" t="-14583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1931611" y="4199718"/>
                <a:ext cx="136146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611" y="4199718"/>
                <a:ext cx="1361462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5024380" y="4199717"/>
                <a:ext cx="137095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380" y="4199717"/>
                <a:ext cx="1370952" cy="58477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90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07407E-6 L -0.0845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32" y="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-0.05026 0.0009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3" y="4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0.14973 0.0009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5" grpId="0"/>
      <p:bldP spid="44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Notation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757977" y="2851787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520062" y="2851787"/>
            <a:ext cx="2125557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2981928" y="2839438"/>
            <a:ext cx="18358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238583" y="2205456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83" y="2205456"/>
                <a:ext cx="550151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3589805" y="2161841"/>
                <a:ext cx="56303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805" y="2161841"/>
                <a:ext cx="56303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8272787" y="2174191"/>
                <a:ext cx="561757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2787" y="2174191"/>
                <a:ext cx="561757" cy="62433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701210" y="2932261"/>
                <a:ext cx="56143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210" y="2932261"/>
                <a:ext cx="56143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537071" y="2932261"/>
                <a:ext cx="58208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071" y="2932261"/>
                <a:ext cx="58208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7291224" y="2944610"/>
                <a:ext cx="560153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224" y="2944610"/>
                <a:ext cx="560153" cy="6243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9354578" y="2946816"/>
                <a:ext cx="580800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4578" y="2946816"/>
                <a:ext cx="580800" cy="6243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3262646" y="2746616"/>
            <a:ext cx="647806" cy="674133"/>
            <a:chOff x="676437" y="3263442"/>
            <a:chExt cx="647806" cy="674133"/>
          </a:xfrm>
        </p:grpSpPr>
        <p:sp>
          <p:nvSpPr>
            <p:cNvPr id="45" name="Oval 4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/>
          <p:cNvGrpSpPr/>
          <p:nvPr/>
        </p:nvGrpSpPr>
        <p:grpSpPr>
          <a:xfrm>
            <a:off x="8022669" y="2758965"/>
            <a:ext cx="680058" cy="713696"/>
            <a:chOff x="676437" y="3263442"/>
            <a:chExt cx="680058" cy="713696"/>
          </a:xfrm>
        </p:grpSpPr>
        <p:sp>
          <p:nvSpPr>
            <p:cNvPr id="50" name="Oval 4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218968" y="3835067"/>
                <a:ext cx="399846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: </a:t>
                </a: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-th</a:t>
                </a: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interval</a:t>
                </a: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968" y="3835067"/>
                <a:ext cx="3998467" cy="584775"/>
              </a:xfrm>
              <a:prstGeom prst="rect">
                <a:avLst/>
              </a:prstGeom>
              <a:blipFill>
                <a:blip r:embed="rId11"/>
                <a:stretch>
                  <a:fillRect t="-15625" r="-3049" b="-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218968" y="4416377"/>
                <a:ext cx="510761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: </a:t>
                </a: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3200" dirty="0">
                    <a:solidFill>
                      <a:srgbClr val="C0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left</a:t>
                </a: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endpoint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968" y="4416377"/>
                <a:ext cx="5107617" cy="584775"/>
              </a:xfrm>
              <a:prstGeom prst="rect">
                <a:avLst/>
              </a:prstGeom>
              <a:blipFill>
                <a:blip r:embed="rId12"/>
                <a:stretch>
                  <a:fillRect t="-15625" b="-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218968" y="5692043"/>
                <a:ext cx="374006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: </a:t>
                </a: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point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968" y="5692043"/>
                <a:ext cx="3740063" cy="584775"/>
              </a:xfrm>
              <a:prstGeom prst="rect">
                <a:avLst/>
              </a:prstGeom>
              <a:blipFill>
                <a:blip r:embed="rId13"/>
                <a:stretch>
                  <a:fillRect t="-15625" b="-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218968" y="5073853"/>
                <a:ext cx="561557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200" dirty="0"/>
                  <a:t>: </a:t>
                </a: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3200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right</a:t>
                </a: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endpoint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968" y="5073853"/>
                <a:ext cx="5615576" cy="584775"/>
              </a:xfrm>
              <a:prstGeom prst="rect">
                <a:avLst/>
              </a:prstGeom>
              <a:blipFill>
                <a:blip r:embed="rId14"/>
                <a:stretch>
                  <a:fillRect t="-15625" b="-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5489851" y="2848323"/>
            <a:ext cx="1341591" cy="0"/>
          </a:xfrm>
          <a:prstGeom prst="line">
            <a:avLst/>
          </a:prstGeom>
          <a:ln w="50800">
            <a:prstDash val="dash"/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335237" y="2848323"/>
            <a:ext cx="1060512" cy="0"/>
          </a:xfrm>
          <a:prstGeom prst="line">
            <a:avLst/>
          </a:prstGeom>
          <a:ln w="50800">
            <a:prstDash val="dash"/>
            <a:headEnd type="diamond" w="lg" len="med"/>
            <a:tailEnd type="non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1024128" y="2848323"/>
            <a:ext cx="1072933" cy="0"/>
          </a:xfrm>
          <a:prstGeom prst="line">
            <a:avLst/>
          </a:prstGeom>
          <a:ln w="50800">
            <a:prstDash val="dash"/>
            <a:headEnd type="diamond" w="lg" len="med"/>
            <a:tailEnd type="non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91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4" grpId="0"/>
      <p:bldP spid="32" grpId="0"/>
      <p:bldP spid="39" grpId="0"/>
      <p:bldP spid="41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Observation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836119" y="4139262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3162073" y="4139262"/>
            <a:ext cx="134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676732" y="4139262"/>
            <a:ext cx="103594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238859" y="4135798"/>
            <a:ext cx="1060512" cy="0"/>
          </a:xfrm>
          <a:prstGeom prst="line">
            <a:avLst/>
          </a:prstGeom>
          <a:ln w="50800">
            <a:prstDash val="dash"/>
            <a:headEnd type="diamond" w="lg" len="med"/>
            <a:tailEnd type="non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85968" y="3407038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68" y="3407038"/>
                <a:ext cx="550151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527560" y="3461665"/>
                <a:ext cx="56303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560" y="3461665"/>
                <a:ext cx="56303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884650" y="3461665"/>
                <a:ext cx="561756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650" y="3461665"/>
                <a:ext cx="561756" cy="62433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2883002" y="4049904"/>
            <a:ext cx="647805" cy="674133"/>
            <a:chOff x="676437" y="3263442"/>
            <a:chExt cx="647805" cy="674133"/>
          </a:xfrm>
        </p:grpSpPr>
        <p:sp>
          <p:nvSpPr>
            <p:cNvPr id="12" name="Oval 1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676437" y="3352800"/>
                  <a:ext cx="647805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47805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8435551" y="4046440"/>
            <a:ext cx="680058" cy="713696"/>
            <a:chOff x="676437" y="3263442"/>
            <a:chExt cx="680058" cy="713696"/>
          </a:xfrm>
        </p:grpSpPr>
        <p:sp>
          <p:nvSpPr>
            <p:cNvPr id="18" name="Oval 17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Left Brace 19"/>
          <p:cNvSpPr/>
          <p:nvPr/>
        </p:nvSpPr>
        <p:spPr>
          <a:xfrm rot="16200000">
            <a:off x="5775169" y="2201647"/>
            <a:ext cx="324414" cy="5550603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680721" y="5139156"/>
                <a:ext cx="4675879" cy="1844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6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6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3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721" y="5139156"/>
                <a:ext cx="4675879" cy="18449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 flipH="1">
            <a:off x="927750" y="4135798"/>
            <a:ext cx="1072933" cy="0"/>
          </a:xfrm>
          <a:prstGeom prst="line">
            <a:avLst/>
          </a:prstGeom>
          <a:ln w="50800">
            <a:prstDash val="dash"/>
            <a:headEnd type="diamond" w="lg" len="med"/>
            <a:tailEnd type="non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343997" y="4135798"/>
            <a:ext cx="1341591" cy="0"/>
          </a:xfrm>
          <a:prstGeom prst="line">
            <a:avLst/>
          </a:prstGeom>
          <a:ln w="50800">
            <a:prstDash val="dash"/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727604" y="4050211"/>
            <a:ext cx="721672" cy="674133"/>
            <a:chOff x="676437" y="3263442"/>
            <a:chExt cx="721672" cy="674133"/>
          </a:xfrm>
        </p:grpSpPr>
        <p:sp>
          <p:nvSpPr>
            <p:cNvPr id="30" name="Oval 2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676437" y="3352800"/>
                  <a:ext cx="7216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21672" cy="5847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/>
          <p:cNvSpPr/>
          <p:nvPr/>
        </p:nvSpPr>
        <p:spPr>
          <a:xfrm>
            <a:off x="1334216" y="1986533"/>
            <a:ext cx="89132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Spacing points evenly can maximize the minimum distance</a:t>
            </a:r>
            <a:endParaRPr lang="en-US" sz="36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28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0" grpId="0" animBg="1"/>
      <p:bldP spid="22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Observation(Cont.)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599301" y="3447106"/>
                <a:ext cx="10856260" cy="20746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O(n</a:t>
                </a:r>
                <a:r>
                  <a:rPr lang="en-US" sz="3200" baseline="30000" dirty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3200" dirty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time algorithm: </a:t>
                </a:r>
              </a:p>
              <a:p>
                <a:r>
                  <a:rPr lang="en-US" sz="3200" dirty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Compute each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4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4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𝑖𝑗</m:t>
                        </m:r>
                      </m:sub>
                    </m:sSub>
                    <m:r>
                      <a:rPr lang="en-US" sz="40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4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4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4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4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4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4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en-US" sz="4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40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4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𝑗</m:t>
                        </m:r>
                        <m:r>
                          <a:rPr lang="en-US" sz="4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</m:t>
                        </m:r>
                        <m:r>
                          <a:rPr lang="en-US" sz="4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≤</m:t>
                    </m:r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𝑖</m:t>
                    </m:r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&lt;</m:t>
                    </m:r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𝑗</m:t>
                    </m:r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≤</m:t>
                    </m:r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rgbClr val="00206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3200" dirty="0">
                  <a:solidFill>
                    <a:srgbClr val="00206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01" y="3447106"/>
                <a:ext cx="10856260" cy="2074607"/>
              </a:xfrm>
              <a:prstGeom prst="rect">
                <a:avLst/>
              </a:prstGeom>
              <a:blipFill>
                <a:blip r:embed="rId2"/>
                <a:stretch>
                  <a:fillRect l="-1404" t="-3812" r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919501" y="1719300"/>
                <a:ext cx="5328318" cy="151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4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𝑜𝑝𝑡</m:t>
                          </m:r>
                        </m:sub>
                      </m:sSub>
                      <m:r>
                        <a:rPr lang="en-US" sz="4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4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4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440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4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</m:t>
                              </m:r>
                              <m:r>
                                <a:rPr lang="en-US" sz="4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≤</m:t>
                              </m:r>
                              <m:r>
                                <a:rPr lang="en-US" sz="4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en-US" sz="4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&lt;</m:t>
                              </m:r>
                              <m:r>
                                <a:rPr lang="en-US" sz="4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en-US" sz="4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≤</m:t>
                              </m:r>
                              <m:r>
                                <a:rPr lang="en-US" sz="4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4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4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44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4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4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44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4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en-US" sz="4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r>
                                <a:rPr lang="en-US" sz="4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𝑖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501" y="1719300"/>
                <a:ext cx="5328318" cy="15161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ontent Placeholder 2"/>
              <p:cNvSpPr txBox="1">
                <a:spLocks/>
              </p:cNvSpPr>
              <p:nvPr/>
            </p:nvSpPr>
            <p:spPr>
              <a:xfrm>
                <a:off x="599301" y="5094063"/>
                <a:ext cx="7114802" cy="127854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200000"/>
                  </a:lnSpc>
                </a:pPr>
                <a:r>
                  <a:rPr lang="en-US" sz="3200" dirty="0"/>
                  <a:t>Improve to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time.</a:t>
                </a:r>
              </a:p>
            </p:txBody>
          </p:sp>
        </mc:Choice>
        <mc:Fallback>
          <p:sp>
            <p:nvSpPr>
              <p:cNvPr id="2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01" y="5094063"/>
                <a:ext cx="7114802" cy="1278543"/>
              </a:xfrm>
              <a:prstGeom prst="rect">
                <a:avLst/>
              </a:prstGeom>
              <a:blipFill>
                <a:blip r:embed="rId4"/>
                <a:stretch>
                  <a:fillRect l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5318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0" grpId="0"/>
      <p:bldP spid="2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Greedy Algorithm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2044" y="2162203"/>
            <a:ext cx="101856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points on intervals from left to right.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812044" y="3100076"/>
                <a:ext cx="1068289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Place the first point on the left endpoint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44" y="3100076"/>
                <a:ext cx="10682896" cy="646331"/>
              </a:xfrm>
              <a:prstGeom prst="rect">
                <a:avLst/>
              </a:prstGeom>
              <a:blipFill>
                <a:blip r:embed="rId2"/>
                <a:stretch>
                  <a:fillRect l="-1711" t="-15094" r="-1027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823315" y="5086865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407864" y="5086149"/>
            <a:ext cx="2424112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03921" y="4440534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21" y="4440534"/>
                <a:ext cx="55015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314612" y="4408552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612" y="4408552"/>
                <a:ext cx="61061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2077969" y="4993327"/>
            <a:ext cx="695382" cy="677597"/>
            <a:chOff x="-389125" y="3263442"/>
            <a:chExt cx="695382" cy="677597"/>
          </a:xfrm>
        </p:grpSpPr>
        <p:sp>
          <p:nvSpPr>
            <p:cNvPr id="18" name="Oval 17"/>
            <p:cNvSpPr/>
            <p:nvPr/>
          </p:nvSpPr>
          <p:spPr>
            <a:xfrm>
              <a:off x="-132156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-389125" y="3356264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89125" y="3356264"/>
                  <a:ext cx="695382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168591" y="5763746"/>
                <a:ext cx="277992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591" y="5763746"/>
                <a:ext cx="277992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032851" y="5825301"/>
                <a:ext cx="67056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8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8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The current minimum distance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851" y="5825301"/>
                <a:ext cx="6705600" cy="523220"/>
              </a:xfrm>
              <a:prstGeom prst="rect">
                <a:avLst/>
              </a:prstGeom>
              <a:blipFill>
                <a:blip r:embed="rId7"/>
                <a:stretch>
                  <a:fillRect t="-14118" r="-545" b="-3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65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6" grpId="0"/>
      <p:bldP spid="12" grpId="0"/>
      <p:bldP spid="13" grpId="0"/>
      <p:bldP spid="30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Greedy Algorithm (Cont.)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" y="2245740"/>
            <a:ext cx="97891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Try to maximize the minimum distance.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2280" y="4477265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25160" y="4477265"/>
            <a:ext cx="2424112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12886" y="3830934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86" y="3830934"/>
                <a:ext cx="55015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731908" y="3799668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908" y="3799668"/>
                <a:ext cx="61061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1495265" y="4384443"/>
            <a:ext cx="695382" cy="677597"/>
            <a:chOff x="-389125" y="3263442"/>
            <a:chExt cx="695382" cy="677597"/>
          </a:xfrm>
        </p:grpSpPr>
        <p:sp>
          <p:nvSpPr>
            <p:cNvPr id="11" name="Oval 10"/>
            <p:cNvSpPr/>
            <p:nvPr/>
          </p:nvSpPr>
          <p:spPr>
            <a:xfrm>
              <a:off x="-132156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-389125" y="3356264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89125" y="3356264"/>
                  <a:ext cx="695382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Straight Connector 12"/>
          <p:cNvCxnSpPr/>
          <p:nvPr/>
        </p:nvCxnSpPr>
        <p:spPr>
          <a:xfrm>
            <a:off x="5297834" y="4477265"/>
            <a:ext cx="1646275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810918" y="3803133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918" y="3803133"/>
                <a:ext cx="62010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6651587" y="4387908"/>
            <a:ext cx="704872" cy="674133"/>
            <a:chOff x="676437" y="3263442"/>
            <a:chExt cx="704872" cy="674133"/>
          </a:xfrm>
        </p:grpSpPr>
        <p:sp>
          <p:nvSpPr>
            <p:cNvPr id="16" name="Oval 1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Left Brace 18"/>
          <p:cNvSpPr/>
          <p:nvPr/>
        </p:nvSpPr>
        <p:spPr>
          <a:xfrm rot="16200000">
            <a:off x="4222428" y="2726331"/>
            <a:ext cx="324414" cy="5118948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087908" y="5445414"/>
                <a:ext cx="569723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908" y="5445414"/>
                <a:ext cx="5697239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Callout 2"/>
          <p:cNvSpPr/>
          <p:nvPr/>
        </p:nvSpPr>
        <p:spPr>
          <a:xfrm>
            <a:off x="7473504" y="4688423"/>
            <a:ext cx="3183986" cy="1129054"/>
          </a:xfrm>
          <a:prstGeom prst="wedgeEllipseCallout">
            <a:avLst>
              <a:gd name="adj1" fmla="val -62867"/>
              <a:gd name="adj2" fmla="val -602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Its position may be changed later</a:t>
            </a:r>
            <a:r>
              <a:rPr lang="en-US" sz="32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903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8" grpId="0"/>
      <p:bldP spid="9" grpId="0"/>
      <p:bldP spid="14" grpId="0"/>
      <p:bldP spid="19" grpId="0" animBg="1"/>
      <p:bldP spid="20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Greedy Algorithm (Cont.)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72166" y="2084832"/>
            <a:ext cx="9789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Try to decrease the minimum distance as </a:t>
            </a:r>
            <a:r>
              <a:rPr lang="en-US" sz="3600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small 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possible.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787456" y="4808959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780336" y="4808959"/>
            <a:ext cx="2424112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68062" y="4162628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62" y="4162628"/>
                <a:ext cx="55015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687084" y="4131362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084" y="4131362"/>
                <a:ext cx="61061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1450441" y="4716137"/>
            <a:ext cx="695382" cy="677597"/>
            <a:chOff x="-389125" y="3263442"/>
            <a:chExt cx="695382" cy="677597"/>
          </a:xfrm>
        </p:grpSpPr>
        <p:sp>
          <p:nvSpPr>
            <p:cNvPr id="25" name="Oval 24"/>
            <p:cNvSpPr/>
            <p:nvPr/>
          </p:nvSpPr>
          <p:spPr>
            <a:xfrm>
              <a:off x="-132156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-389125" y="3356264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89125" y="3356264"/>
                  <a:ext cx="695382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" name="Straight Connector 26"/>
          <p:cNvCxnSpPr/>
          <p:nvPr/>
        </p:nvCxnSpPr>
        <p:spPr>
          <a:xfrm>
            <a:off x="5253010" y="4808959"/>
            <a:ext cx="1646275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766094" y="4134827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094" y="4134827"/>
                <a:ext cx="62010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6606763" y="4719602"/>
            <a:ext cx="704872" cy="674133"/>
            <a:chOff x="676437" y="3263442"/>
            <a:chExt cx="704872" cy="674133"/>
          </a:xfrm>
        </p:grpSpPr>
        <p:sp>
          <p:nvSpPr>
            <p:cNvPr id="30" name="Oval 2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Left Brace 31"/>
          <p:cNvSpPr/>
          <p:nvPr/>
        </p:nvSpPr>
        <p:spPr>
          <a:xfrm rot="16200000">
            <a:off x="4177604" y="3058025"/>
            <a:ext cx="324414" cy="5118948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1707410" y="5747677"/>
                <a:ext cx="569723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410" y="5747677"/>
                <a:ext cx="5697239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8166152" y="4808959"/>
            <a:ext cx="18358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8774029" y="4131362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029" y="4131362"/>
                <a:ext cx="620106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9724807" y="4716137"/>
            <a:ext cx="704872" cy="674133"/>
            <a:chOff x="676437" y="3263442"/>
            <a:chExt cx="704872" cy="674133"/>
          </a:xfrm>
        </p:grpSpPr>
        <p:sp>
          <p:nvSpPr>
            <p:cNvPr id="37" name="Oval 36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Left Brace 38"/>
          <p:cNvSpPr/>
          <p:nvPr/>
        </p:nvSpPr>
        <p:spPr>
          <a:xfrm rot="16200000">
            <a:off x="5728967" y="1506659"/>
            <a:ext cx="324414" cy="8221678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076787" y="5615677"/>
                <a:ext cx="5697239" cy="10567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787" y="5615677"/>
                <a:ext cx="5697239" cy="10567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Callout 40"/>
          <p:cNvSpPr/>
          <p:nvPr/>
        </p:nvSpPr>
        <p:spPr>
          <a:xfrm>
            <a:off x="7117255" y="3012243"/>
            <a:ext cx="2884758" cy="1192167"/>
          </a:xfrm>
          <a:prstGeom prst="wedgeEllipseCallout">
            <a:avLst>
              <a:gd name="adj1" fmla="val -53544"/>
              <a:gd name="adj2" fmla="val 893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Pending Points</a:t>
            </a:r>
          </a:p>
        </p:txBody>
      </p:sp>
      <p:sp>
        <p:nvSpPr>
          <p:cNvPr id="42" name="Oval Callout 41"/>
          <p:cNvSpPr/>
          <p:nvPr/>
        </p:nvSpPr>
        <p:spPr>
          <a:xfrm>
            <a:off x="6678706" y="3012243"/>
            <a:ext cx="3505199" cy="1192167"/>
          </a:xfrm>
          <a:prstGeom prst="wedgeEllipseCallout">
            <a:avLst>
              <a:gd name="adj1" fmla="val 40091"/>
              <a:gd name="adj2" fmla="val 886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Their positions may be changed later</a:t>
            </a:r>
            <a:r>
              <a:rPr lang="en-US" sz="32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212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-0.07448 0.00046 " pathEditMode="relative" rAng="0" ptsTypes="AA">
                                      <p:cBhvr>
                                        <p:cTn id="5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2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2" grpId="0"/>
      <p:bldP spid="23" grpId="0"/>
      <p:bldP spid="28" grpId="0"/>
      <p:bldP spid="32" grpId="0" animBg="1"/>
      <p:bldP spid="32" grpId="1" animBg="1"/>
      <p:bldP spid="33" grpId="0"/>
      <p:bldP spid="33" grpId="1"/>
      <p:bldP spid="35" grpId="0"/>
      <p:bldP spid="39" grpId="0" animBg="1"/>
      <p:bldP spid="40" grpId="0"/>
      <p:bldP spid="41" grpId="0" animBg="1"/>
      <p:bldP spid="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An Example(Case I)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705490" y="3262184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1640008" y="3262184"/>
            <a:ext cx="134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3656563" y="3262184"/>
            <a:ext cx="103594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8750419" y="3248208"/>
            <a:ext cx="18358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186096" y="2615853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96" y="2615853"/>
                <a:ext cx="550151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2005495" y="2584587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495" y="2584587"/>
                <a:ext cx="61061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3864481" y="2584587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481" y="2584587"/>
                <a:ext cx="62010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9358296" y="2570611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296" y="2570611"/>
                <a:ext cx="620106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/>
          <p:cNvGrpSpPr/>
          <p:nvPr/>
        </p:nvGrpSpPr>
        <p:grpSpPr>
          <a:xfrm>
            <a:off x="1360937" y="3172826"/>
            <a:ext cx="695382" cy="674133"/>
            <a:chOff x="676437" y="3263442"/>
            <a:chExt cx="695382" cy="674133"/>
          </a:xfrm>
        </p:grpSpPr>
        <p:sp>
          <p:nvSpPr>
            <p:cNvPr id="75" name="Oval 7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7" name="Rectangle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77"/>
          <p:cNvGrpSpPr/>
          <p:nvPr/>
        </p:nvGrpSpPr>
        <p:grpSpPr>
          <a:xfrm>
            <a:off x="8468863" y="3155386"/>
            <a:ext cx="704872" cy="674133"/>
            <a:chOff x="676437" y="3263442"/>
            <a:chExt cx="704872" cy="674133"/>
          </a:xfrm>
        </p:grpSpPr>
        <p:sp>
          <p:nvSpPr>
            <p:cNvPr id="79" name="Oval 7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/>
          <p:cNvGrpSpPr/>
          <p:nvPr/>
        </p:nvGrpSpPr>
        <p:grpSpPr>
          <a:xfrm>
            <a:off x="4415382" y="3169362"/>
            <a:ext cx="704872" cy="674133"/>
            <a:chOff x="676437" y="3263442"/>
            <a:chExt cx="704872" cy="674133"/>
          </a:xfrm>
        </p:grpSpPr>
        <p:sp>
          <p:nvSpPr>
            <p:cNvPr id="82" name="Oval 8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7" name="Left Brace 86"/>
          <p:cNvSpPr/>
          <p:nvPr/>
        </p:nvSpPr>
        <p:spPr>
          <a:xfrm rot="16200000">
            <a:off x="3011066" y="2652501"/>
            <a:ext cx="324414" cy="3066527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88" name="Left Brace 87"/>
          <p:cNvSpPr/>
          <p:nvPr/>
        </p:nvSpPr>
        <p:spPr>
          <a:xfrm rot="16200000">
            <a:off x="6566273" y="2160358"/>
            <a:ext cx="324414" cy="4043883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1902757" y="4345374"/>
                <a:ext cx="258327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757" y="4345374"/>
                <a:ext cx="2583271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5420554" y="4345374"/>
                <a:ext cx="288893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554" y="4345374"/>
                <a:ext cx="2888931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672067" y="5330095"/>
                <a:ext cx="305641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067" y="5330095"/>
                <a:ext cx="3056413" cy="64633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62214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87" grpId="0" animBg="1"/>
      <p:bldP spid="88" grpId="0" animBg="1"/>
      <p:bldP spid="90" grpId="0"/>
      <p:bldP spid="91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An Example(Case II)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705490" y="3262184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2190514" y="3262184"/>
            <a:ext cx="134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207069" y="3262184"/>
            <a:ext cx="103594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7632008" y="3256070"/>
            <a:ext cx="18358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186096" y="2615853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96" y="2615853"/>
                <a:ext cx="550151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2556001" y="2584587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001" y="2584587"/>
                <a:ext cx="610616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4414987" y="2584587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987" y="2584587"/>
                <a:ext cx="62010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8239885" y="2578473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885" y="2578473"/>
                <a:ext cx="620106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/>
          <p:cNvGrpSpPr/>
          <p:nvPr/>
        </p:nvGrpSpPr>
        <p:grpSpPr>
          <a:xfrm>
            <a:off x="1911443" y="3172826"/>
            <a:ext cx="695382" cy="674133"/>
            <a:chOff x="676437" y="3263442"/>
            <a:chExt cx="695382" cy="674133"/>
          </a:xfrm>
        </p:grpSpPr>
        <p:sp>
          <p:nvSpPr>
            <p:cNvPr id="75" name="Oval 7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7" name="Rectangle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77"/>
          <p:cNvGrpSpPr/>
          <p:nvPr/>
        </p:nvGrpSpPr>
        <p:grpSpPr>
          <a:xfrm>
            <a:off x="8031266" y="3168021"/>
            <a:ext cx="704872" cy="674133"/>
            <a:chOff x="676437" y="3263442"/>
            <a:chExt cx="704872" cy="674133"/>
          </a:xfrm>
        </p:grpSpPr>
        <p:sp>
          <p:nvSpPr>
            <p:cNvPr id="79" name="Oval 7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/>
          <p:cNvGrpSpPr/>
          <p:nvPr/>
        </p:nvGrpSpPr>
        <p:grpSpPr>
          <a:xfrm>
            <a:off x="4965888" y="3169362"/>
            <a:ext cx="704872" cy="674133"/>
            <a:chOff x="676437" y="3263442"/>
            <a:chExt cx="704872" cy="674133"/>
          </a:xfrm>
        </p:grpSpPr>
        <p:sp>
          <p:nvSpPr>
            <p:cNvPr id="82" name="Oval 8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7" name="Left Brace 86"/>
          <p:cNvSpPr/>
          <p:nvPr/>
        </p:nvSpPr>
        <p:spPr>
          <a:xfrm rot="16200000">
            <a:off x="3561572" y="2652501"/>
            <a:ext cx="324414" cy="3066527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2453263" y="4345374"/>
                <a:ext cx="258327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263" y="4345374"/>
                <a:ext cx="2583271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5971060" y="4345374"/>
                <a:ext cx="374474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060" y="4345374"/>
                <a:ext cx="3744743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eft Brace 23"/>
          <p:cNvSpPr/>
          <p:nvPr/>
        </p:nvSpPr>
        <p:spPr>
          <a:xfrm rot="16200000">
            <a:off x="6641228" y="2652501"/>
            <a:ext cx="324414" cy="3066527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039710" y="5446636"/>
                <a:ext cx="499482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710" y="5446636"/>
                <a:ext cx="4994829" cy="64633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3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91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An Example(Case III)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687561" y="2452453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1052910" y="2452453"/>
            <a:ext cx="134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542388" y="2452453"/>
            <a:ext cx="103594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6494404" y="2446339"/>
            <a:ext cx="18358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168167" y="1806122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67" y="1806122"/>
                <a:ext cx="55015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1418397" y="1774856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97" y="1774856"/>
                <a:ext cx="61061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4750306" y="1774856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306" y="1774856"/>
                <a:ext cx="62010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7102281" y="1768742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281" y="1768742"/>
                <a:ext cx="62010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/>
          <p:cNvGrpSpPr/>
          <p:nvPr/>
        </p:nvGrpSpPr>
        <p:grpSpPr>
          <a:xfrm>
            <a:off x="773839" y="2363095"/>
            <a:ext cx="695382" cy="674133"/>
            <a:chOff x="676437" y="3263442"/>
            <a:chExt cx="695382" cy="674133"/>
          </a:xfrm>
        </p:grpSpPr>
        <p:sp>
          <p:nvSpPr>
            <p:cNvPr id="75" name="Oval 7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7" name="Rectangle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77"/>
          <p:cNvGrpSpPr/>
          <p:nvPr/>
        </p:nvGrpSpPr>
        <p:grpSpPr>
          <a:xfrm>
            <a:off x="8068971" y="2353517"/>
            <a:ext cx="704872" cy="674133"/>
            <a:chOff x="676437" y="3263442"/>
            <a:chExt cx="704872" cy="674133"/>
          </a:xfrm>
        </p:grpSpPr>
        <p:sp>
          <p:nvSpPr>
            <p:cNvPr id="79" name="Oval 7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/>
          <p:cNvGrpSpPr/>
          <p:nvPr/>
        </p:nvGrpSpPr>
        <p:grpSpPr>
          <a:xfrm>
            <a:off x="5301207" y="2359631"/>
            <a:ext cx="704872" cy="674133"/>
            <a:chOff x="676437" y="3263442"/>
            <a:chExt cx="704872" cy="674133"/>
          </a:xfrm>
        </p:grpSpPr>
        <p:sp>
          <p:nvSpPr>
            <p:cNvPr id="82" name="Oval 8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7" name="Left Brace 86"/>
          <p:cNvSpPr/>
          <p:nvPr/>
        </p:nvSpPr>
        <p:spPr>
          <a:xfrm rot="16200000">
            <a:off x="3153416" y="899344"/>
            <a:ext cx="324414" cy="4525421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2132827" y="3321665"/>
                <a:ext cx="273536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827" y="3321665"/>
                <a:ext cx="2735364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6614182" y="3324262"/>
                <a:ext cx="290957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182" y="3324262"/>
                <a:ext cx="290957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eft Brace 24"/>
          <p:cNvSpPr/>
          <p:nvPr/>
        </p:nvSpPr>
        <p:spPr>
          <a:xfrm rot="16200000">
            <a:off x="7678835" y="899345"/>
            <a:ext cx="324414" cy="4525421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7" name="Left Brace 26"/>
          <p:cNvSpPr/>
          <p:nvPr/>
        </p:nvSpPr>
        <p:spPr>
          <a:xfrm rot="16200000">
            <a:off x="4513668" y="-489693"/>
            <a:ext cx="324414" cy="7303494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599609" y="3301294"/>
                <a:ext cx="6152531" cy="714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sz="3200" dirty="0"/>
                                <m:t> </m:t>
                              </m:r>
                            </m:num>
                            <m:den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609" y="3301294"/>
                <a:ext cx="6152531" cy="7141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>
            <a:off x="687561" y="4966705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052910" y="4966705"/>
            <a:ext cx="134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983643" y="4966705"/>
            <a:ext cx="103594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935659" y="4960591"/>
            <a:ext cx="18358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168167" y="4320374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67" y="4320374"/>
                <a:ext cx="550151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418397" y="4289108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97" y="4289108"/>
                <a:ext cx="610616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6191561" y="4289108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561" y="4289108"/>
                <a:ext cx="620106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8543536" y="4282994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536" y="4282994"/>
                <a:ext cx="620106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>
            <a:off x="773839" y="4877347"/>
            <a:ext cx="695382" cy="674133"/>
            <a:chOff x="676437" y="3263442"/>
            <a:chExt cx="695382" cy="674133"/>
          </a:xfrm>
        </p:grpSpPr>
        <p:sp>
          <p:nvSpPr>
            <p:cNvPr id="38" name="Oval 37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7" name="Rectangle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/>
          <p:cNvGrpSpPr/>
          <p:nvPr/>
        </p:nvGrpSpPr>
        <p:grpSpPr>
          <a:xfrm>
            <a:off x="9510226" y="4867769"/>
            <a:ext cx="704872" cy="674133"/>
            <a:chOff x="676437" y="3263442"/>
            <a:chExt cx="704872" cy="674133"/>
          </a:xfrm>
        </p:grpSpPr>
        <p:sp>
          <p:nvSpPr>
            <p:cNvPr id="41" name="Oval 40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Oval 43"/>
          <p:cNvSpPr/>
          <p:nvPr/>
        </p:nvSpPr>
        <p:spPr>
          <a:xfrm>
            <a:off x="6936069" y="4873883"/>
            <a:ext cx="178716" cy="178716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6742462" y="4963241"/>
                <a:ext cx="7048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462" y="4963241"/>
                <a:ext cx="704872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eft Brace 45"/>
          <p:cNvSpPr/>
          <p:nvPr/>
        </p:nvSpPr>
        <p:spPr>
          <a:xfrm rot="16200000">
            <a:off x="3874044" y="2692969"/>
            <a:ext cx="324414" cy="5966675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777980" y="5767235"/>
                <a:ext cx="273536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980" y="5767235"/>
                <a:ext cx="2735364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7139070" y="5819010"/>
                <a:ext cx="290957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70" y="5819010"/>
                <a:ext cx="2909578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Left Brace 48"/>
          <p:cNvSpPr/>
          <p:nvPr/>
        </p:nvSpPr>
        <p:spPr>
          <a:xfrm rot="16200000">
            <a:off x="8233348" y="4300342"/>
            <a:ext cx="324414" cy="2751931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Left Brace 52"/>
          <p:cNvSpPr/>
          <p:nvPr/>
        </p:nvSpPr>
        <p:spPr>
          <a:xfrm rot="16200000">
            <a:off x="7715375" y="3768978"/>
            <a:ext cx="324414" cy="3787877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312271" y="5802157"/>
                <a:ext cx="3190943" cy="714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sz="3200" dirty="0"/>
                                <m:t> </m:t>
                              </m:r>
                            </m:num>
                            <m:den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1" y="5802157"/>
                <a:ext cx="3190943" cy="71417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3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44444E-6 L -0.06901 0.00277 " pathEditMode="relative" rAng="0" ptsTypes="AA">
                                      <p:cBhvr>
                                        <p:cTn id="33" dur="1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5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11111E-6 L -0.13568 -0.00069 " pathEditMode="relative" rAng="0" ptsTypes="AA">
                                      <p:cBhvr>
                                        <p:cTn id="127" dur="1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84" y="-46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-0.14141 -0.00023 " pathEditMode="relative" rAng="0" ptsTypes="AA">
                                      <p:cBhvr>
                                        <p:cTn id="129" dur="1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7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4" dur="1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1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5" presetClass="path" presetSubtype="0" accel="50000" decel="50000" fill="hold" grpId="2" nodeType="click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-1.875E-6 -1.11111E-6 L -0.08541 0.0007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71" y="23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-0.08932 -0.00023 " pathEditMode="relative" rAng="0" ptsTypes="AA">
                                      <p:cBhvr>
                                        <p:cTn id="14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6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9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" dur="7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87" grpId="0" animBg="1"/>
      <p:bldP spid="90" grpId="0"/>
      <p:bldP spid="91" grpId="0"/>
      <p:bldP spid="91" grpId="1"/>
      <p:bldP spid="25" grpId="0" animBg="1"/>
      <p:bldP spid="25" grpId="1" animBg="1"/>
      <p:bldP spid="27" grpId="0" animBg="1"/>
      <p:bldP spid="28" grpId="0"/>
      <p:bldP spid="33" grpId="0"/>
      <p:bldP spid="34" grpId="0"/>
      <p:bldP spid="35" grpId="0"/>
      <p:bldP spid="36" grpId="0"/>
      <p:bldP spid="44" grpId="0" animBg="1"/>
      <p:bldP spid="44" grpId="1" animBg="1"/>
      <p:bldP spid="44" grpId="2" animBg="1"/>
      <p:bldP spid="45" grpId="0"/>
      <p:bldP spid="45" grpId="1"/>
      <p:bldP spid="45" grpId="2"/>
      <p:bldP spid="46" grpId="0" animBg="1"/>
      <p:bldP spid="46" grpId="1" animBg="1"/>
      <p:bldP spid="47" grpId="0"/>
      <p:bldP spid="47" grpId="1"/>
      <p:bldP spid="48" grpId="0"/>
      <p:bldP spid="48" grpId="1"/>
      <p:bldP spid="49" grpId="0" animBg="1"/>
      <p:bldP spid="49" grpId="1" animBg="1"/>
      <p:bldP spid="53" grpId="0" animBg="1"/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Case III in General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583385" y="2478574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948734" y="2478574"/>
            <a:ext cx="134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7772400" y="2474737"/>
            <a:ext cx="627980" cy="2713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9054353" y="2468996"/>
            <a:ext cx="883321" cy="11484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63991" y="1832243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" y="1832243"/>
                <a:ext cx="550151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1314221" y="1800977"/>
                <a:ext cx="56303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221" y="1800977"/>
                <a:ext cx="56303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 63"/>
              <p:cNvSpPr/>
              <p:nvPr/>
            </p:nvSpPr>
            <p:spPr>
              <a:xfrm>
                <a:off x="7453686" y="1809575"/>
                <a:ext cx="9541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686" y="1809575"/>
                <a:ext cx="95417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Rectangle 64"/>
              <p:cNvSpPr/>
              <p:nvPr/>
            </p:nvSpPr>
            <p:spPr>
              <a:xfrm>
                <a:off x="8917097" y="1788766"/>
                <a:ext cx="9541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097" y="1788766"/>
                <a:ext cx="95417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/>
          <p:cNvGrpSpPr/>
          <p:nvPr/>
        </p:nvGrpSpPr>
        <p:grpSpPr>
          <a:xfrm>
            <a:off x="669663" y="2389216"/>
            <a:ext cx="647805" cy="674133"/>
            <a:chOff x="676437" y="3263442"/>
            <a:chExt cx="647805" cy="674133"/>
          </a:xfrm>
        </p:grpSpPr>
        <p:sp>
          <p:nvSpPr>
            <p:cNvPr id="75" name="Oval 7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/>
                <p:cNvSpPr/>
                <p:nvPr/>
              </p:nvSpPr>
              <p:spPr>
                <a:xfrm>
                  <a:off x="676437" y="3352800"/>
                  <a:ext cx="647805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7" name="Rectangle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47805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77"/>
          <p:cNvGrpSpPr/>
          <p:nvPr/>
        </p:nvGrpSpPr>
        <p:grpSpPr>
          <a:xfrm>
            <a:off x="9676380" y="2376174"/>
            <a:ext cx="1038939" cy="674133"/>
            <a:chOff x="676437" y="3263442"/>
            <a:chExt cx="1038939" cy="674133"/>
          </a:xfrm>
        </p:grpSpPr>
        <p:sp>
          <p:nvSpPr>
            <p:cNvPr id="79" name="Oval 7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Rectangle 79"/>
                <p:cNvSpPr/>
                <p:nvPr/>
              </p:nvSpPr>
              <p:spPr>
                <a:xfrm>
                  <a:off x="676437" y="3352800"/>
                  <a:ext cx="103893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1038939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/>
          <p:cNvGrpSpPr/>
          <p:nvPr/>
        </p:nvGrpSpPr>
        <p:grpSpPr>
          <a:xfrm>
            <a:off x="7940181" y="2394350"/>
            <a:ext cx="1038939" cy="669346"/>
            <a:chOff x="733039" y="3276149"/>
            <a:chExt cx="1038939" cy="669346"/>
          </a:xfrm>
        </p:grpSpPr>
        <p:sp>
          <p:nvSpPr>
            <p:cNvPr id="82" name="Oval 81"/>
            <p:cNvSpPr/>
            <p:nvPr/>
          </p:nvSpPr>
          <p:spPr>
            <a:xfrm>
              <a:off x="1103659" y="3276149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Rectangle 82"/>
                <p:cNvSpPr/>
                <p:nvPr/>
              </p:nvSpPr>
              <p:spPr>
                <a:xfrm>
                  <a:off x="733039" y="3360720"/>
                  <a:ext cx="103893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039" y="3360720"/>
                  <a:ext cx="1038939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819443" y="3174031"/>
                <a:ext cx="9352008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sz="3600" i="1">
                    <a:latin typeface="Cambria Math" panose="02040503050406030204" pitchFamily="18" charset="0"/>
                  </a:defRPr>
                </a:lvl1pPr>
              </a:lstStyle>
              <a:p>
                <a:r>
                  <a:rPr lang="en-US" sz="2800" i="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Checking every interval takes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𝑂</m:t>
                    </m:r>
                    <m:r>
                      <a:rPr lang="en-US" sz="2800" i="1" dirty="0" smtClean="0"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800" i="1" dirty="0" smtClean="0"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en-US" sz="2800" i="1" dirty="0" smtClean="0"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800" i="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 in total, resulting an overall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𝑂</m:t>
                    </m:r>
                    <m:r>
                      <a:rPr lang="en-US" sz="2800" i="1" dirty="0" smtClean="0"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sSup>
                      <m:sSupPr>
                        <m:ctrlPr>
                          <a:rPr lang="en-US" sz="2800" i="1" dirty="0" smtClean="0"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dirty="0" smtClean="0"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800" i="1" dirty="0" smtClean="0"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800" i="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43" y="3174031"/>
                <a:ext cx="9352008" cy="954107"/>
              </a:xfrm>
              <a:prstGeom prst="rect">
                <a:avLst/>
              </a:prstGeom>
              <a:blipFill>
                <a:blip r:embed="rId9"/>
                <a:stretch>
                  <a:fillRect l="-1303" t="-769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846219" y="4129230"/>
                <a:ext cx="597471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sz="3600" i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lvl1pPr>
              </a:lstStyle>
              <a:p>
                <a:r>
                  <a:rPr lang="en-US" sz="2800" dirty="0"/>
                  <a:t>An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time algorithm: 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19" y="4129230"/>
                <a:ext cx="5974713" cy="523220"/>
              </a:xfrm>
              <a:prstGeom prst="rect">
                <a:avLst/>
              </a:prstGeom>
              <a:blipFill>
                <a:blip r:embed="rId10"/>
                <a:stretch>
                  <a:fillRect l="-2143" t="-12791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46219" y="4636990"/>
                <a:ext cx="10389467" cy="1692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 sz="3600" i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lvl1pPr>
              </a:lstStyle>
              <a:p>
                <a:r>
                  <a:rPr lang="en-US" sz="2800" b="1" dirty="0"/>
                  <a:t>The key idea</a:t>
                </a:r>
                <a:r>
                  <a:rPr lang="en-US" sz="2800" dirty="0"/>
                  <a:t>: </a:t>
                </a:r>
                <a:r>
                  <a:rPr lang="en-US" sz="2400" dirty="0"/>
                  <a:t>Maintain a critical list of intervals. We only need to check the intervals in the list from left to right. Once an interval is checked, we can remove it from the list.</a:t>
                </a:r>
              </a:p>
              <a:p>
                <a:r>
                  <a:rPr lang="en-US" sz="2800" dirty="0"/>
                  <a:t>Overall time: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19" y="4636990"/>
                <a:ext cx="10389467" cy="1692771"/>
              </a:xfrm>
              <a:prstGeom prst="rect">
                <a:avLst/>
              </a:prstGeom>
              <a:blipFill>
                <a:blip r:embed="rId11"/>
                <a:stretch>
                  <a:fillRect l="-1232" t="-3971" r="-1761" b="-9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>
            <a:off x="5564481" y="2468623"/>
            <a:ext cx="103594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5677197" y="2377391"/>
            <a:ext cx="1038939" cy="666267"/>
            <a:chOff x="531516" y="3263442"/>
            <a:chExt cx="1038939" cy="666267"/>
          </a:xfrm>
        </p:grpSpPr>
        <p:sp>
          <p:nvSpPr>
            <p:cNvPr id="26" name="Oval 2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Rectangle 26"/>
                <p:cNvSpPr/>
                <p:nvPr/>
              </p:nvSpPr>
              <p:spPr>
                <a:xfrm>
                  <a:off x="531516" y="3344934"/>
                  <a:ext cx="103893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6" y="3344934"/>
                  <a:ext cx="1038939" cy="5847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Straight Connector 27"/>
          <p:cNvCxnSpPr/>
          <p:nvPr/>
        </p:nvCxnSpPr>
        <p:spPr>
          <a:xfrm>
            <a:off x="3473646" y="2477450"/>
            <a:ext cx="103594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3609188" y="2363831"/>
            <a:ext cx="1038939" cy="690360"/>
            <a:chOff x="525952" y="3253548"/>
            <a:chExt cx="1038939" cy="690360"/>
          </a:xfrm>
        </p:grpSpPr>
        <p:sp>
          <p:nvSpPr>
            <p:cNvPr id="30" name="Oval 29"/>
            <p:cNvSpPr/>
            <p:nvPr/>
          </p:nvSpPr>
          <p:spPr>
            <a:xfrm>
              <a:off x="697478" y="3253548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Rectangle 30"/>
                <p:cNvSpPr/>
                <p:nvPr/>
              </p:nvSpPr>
              <p:spPr>
                <a:xfrm>
                  <a:off x="525952" y="3359133"/>
                  <a:ext cx="103893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952" y="3359133"/>
                  <a:ext cx="1038939" cy="58477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/>
              <p:cNvSpPr/>
              <p:nvPr/>
            </p:nvSpPr>
            <p:spPr>
              <a:xfrm>
                <a:off x="5534191" y="1769246"/>
                <a:ext cx="9541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191" y="1769246"/>
                <a:ext cx="954172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3639599" y="1779056"/>
                <a:ext cx="9541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599" y="1779056"/>
                <a:ext cx="954172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63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33333E-6 L -0.05859 0.00023 " pathEditMode="relative" rAng="0" ptsTypes="AA">
                                      <p:cBhvr>
                                        <p:cTn id="23" dur="1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1.11111E-6 L -0.04257 0.00139 " pathEditMode="relative" rAng="0" ptsTypes="AA">
                                      <p:cBhvr>
                                        <p:cTn id="25" dur="1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5" y="69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59259E-6 L -0.05377 0.00324 " pathEditMode="relative" rAng="0" ptsTypes="AA">
                                      <p:cBhvr>
                                        <p:cTn id="27" dur="1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5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Observation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813444" y="4197620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796207" y="4197620"/>
            <a:ext cx="803658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3293" y="3465396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93" y="3465396"/>
                <a:ext cx="55015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161694" y="3520023"/>
                <a:ext cx="56303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694" y="3520023"/>
                <a:ext cx="56303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1535724" y="4108262"/>
            <a:ext cx="647806" cy="674133"/>
            <a:chOff x="676437" y="3263442"/>
            <a:chExt cx="647806" cy="674133"/>
          </a:xfrm>
        </p:grpSpPr>
        <p:sp>
          <p:nvSpPr>
            <p:cNvPr id="12" name="Oval 1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Connector 23"/>
          <p:cNvCxnSpPr/>
          <p:nvPr/>
        </p:nvCxnSpPr>
        <p:spPr>
          <a:xfrm>
            <a:off x="3388632" y="4204447"/>
            <a:ext cx="1220577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3835575" y="3507581"/>
                <a:ext cx="6369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575" y="3507581"/>
                <a:ext cx="63690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3912035" y="4108262"/>
            <a:ext cx="721671" cy="674133"/>
            <a:chOff x="676437" y="3263442"/>
            <a:chExt cx="721671" cy="674133"/>
          </a:xfrm>
        </p:grpSpPr>
        <p:sp>
          <p:nvSpPr>
            <p:cNvPr id="33" name="Oval 32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676437" y="3352800"/>
                  <a:ext cx="72167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21671" cy="58477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4" name="Straight Connector 53"/>
          <p:cNvCxnSpPr/>
          <p:nvPr/>
        </p:nvCxnSpPr>
        <p:spPr>
          <a:xfrm>
            <a:off x="5659234" y="4201741"/>
            <a:ext cx="944412" cy="3464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5895981" y="3507581"/>
                <a:ext cx="64056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981" y="3507581"/>
                <a:ext cx="64056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/>
          <p:cNvGrpSpPr/>
          <p:nvPr/>
        </p:nvGrpSpPr>
        <p:grpSpPr>
          <a:xfrm>
            <a:off x="6323134" y="4108262"/>
            <a:ext cx="725327" cy="674133"/>
            <a:chOff x="676437" y="3263442"/>
            <a:chExt cx="725327" cy="674133"/>
          </a:xfrm>
        </p:grpSpPr>
        <p:sp>
          <p:nvSpPr>
            <p:cNvPr id="57" name="Oval 56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676437" y="3352800"/>
                  <a:ext cx="72532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25327" cy="584775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2" name="Straight Connector 61"/>
          <p:cNvCxnSpPr/>
          <p:nvPr/>
        </p:nvCxnSpPr>
        <p:spPr>
          <a:xfrm>
            <a:off x="820587" y="5785432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803350" y="5785432"/>
            <a:ext cx="803658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270436" y="5053208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36" y="5053208"/>
                <a:ext cx="550151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2168837" y="5107835"/>
                <a:ext cx="56303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837" y="5107835"/>
                <a:ext cx="563038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/>
          <p:cNvGrpSpPr/>
          <p:nvPr/>
        </p:nvGrpSpPr>
        <p:grpSpPr>
          <a:xfrm>
            <a:off x="1542867" y="5696074"/>
            <a:ext cx="647806" cy="674133"/>
            <a:chOff x="676437" y="3263442"/>
            <a:chExt cx="647806" cy="674133"/>
          </a:xfrm>
        </p:grpSpPr>
        <p:sp>
          <p:nvSpPr>
            <p:cNvPr id="79" name="Oval 7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/>
                <p:cNvSpPr/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7" name="Straight Connector 86"/>
          <p:cNvCxnSpPr/>
          <p:nvPr/>
        </p:nvCxnSpPr>
        <p:spPr>
          <a:xfrm>
            <a:off x="3395775" y="5792259"/>
            <a:ext cx="1220577" cy="0"/>
          </a:xfrm>
          <a:prstGeom prst="line">
            <a:avLst/>
          </a:prstGeom>
          <a:ln w="50800">
            <a:prstDash val="sysDash"/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3842718" y="5095393"/>
                <a:ext cx="6369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718" y="5095393"/>
                <a:ext cx="636905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Group 88"/>
          <p:cNvGrpSpPr/>
          <p:nvPr/>
        </p:nvGrpSpPr>
        <p:grpSpPr>
          <a:xfrm>
            <a:off x="3793754" y="5696074"/>
            <a:ext cx="721671" cy="674133"/>
            <a:chOff x="676437" y="3263442"/>
            <a:chExt cx="721671" cy="674133"/>
          </a:xfrm>
        </p:grpSpPr>
        <p:sp>
          <p:nvSpPr>
            <p:cNvPr id="90" name="Oval 8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ectangle 90"/>
                <p:cNvSpPr/>
                <p:nvPr/>
              </p:nvSpPr>
              <p:spPr>
                <a:xfrm>
                  <a:off x="676437" y="3352800"/>
                  <a:ext cx="72167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21671" cy="58477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2" name="Straight Connector 91"/>
          <p:cNvCxnSpPr/>
          <p:nvPr/>
        </p:nvCxnSpPr>
        <p:spPr>
          <a:xfrm>
            <a:off x="8946776" y="5791130"/>
            <a:ext cx="527184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/>
              <p:cNvSpPr/>
              <p:nvPr/>
            </p:nvSpPr>
            <p:spPr>
              <a:xfrm>
                <a:off x="8821504" y="5093105"/>
                <a:ext cx="952889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3" name="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504" y="5093105"/>
                <a:ext cx="952889" cy="6243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" name="Group 93"/>
          <p:cNvGrpSpPr/>
          <p:nvPr/>
        </p:nvGrpSpPr>
        <p:grpSpPr>
          <a:xfrm>
            <a:off x="9208575" y="5696074"/>
            <a:ext cx="1071191" cy="713696"/>
            <a:chOff x="676437" y="3263442"/>
            <a:chExt cx="1071191" cy="713696"/>
          </a:xfrm>
        </p:grpSpPr>
        <p:sp>
          <p:nvSpPr>
            <p:cNvPr id="95" name="Oval 9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Rectangle 95"/>
                <p:cNvSpPr/>
                <p:nvPr/>
              </p:nvSpPr>
              <p:spPr>
                <a:xfrm>
                  <a:off x="676437" y="3352800"/>
                  <a:ext cx="1071191" cy="6243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1071191" cy="62433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7" name="Straight Connector 96"/>
          <p:cNvCxnSpPr/>
          <p:nvPr/>
        </p:nvCxnSpPr>
        <p:spPr>
          <a:xfrm>
            <a:off x="7347819" y="5775075"/>
            <a:ext cx="855620" cy="2757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/>
              <p:cNvSpPr/>
              <p:nvPr/>
            </p:nvSpPr>
            <p:spPr>
              <a:xfrm>
                <a:off x="7550201" y="5148690"/>
                <a:ext cx="561756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8" name="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201" y="5148690"/>
                <a:ext cx="561756" cy="62433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Group 98"/>
          <p:cNvGrpSpPr/>
          <p:nvPr/>
        </p:nvGrpSpPr>
        <p:grpSpPr>
          <a:xfrm>
            <a:off x="7933231" y="5688158"/>
            <a:ext cx="680058" cy="713696"/>
            <a:chOff x="676437" y="3263442"/>
            <a:chExt cx="680058" cy="713696"/>
          </a:xfrm>
        </p:grpSpPr>
        <p:sp>
          <p:nvSpPr>
            <p:cNvPr id="100" name="Oval 9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100"/>
                <p:cNvSpPr/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2" name="Straight Connector 101"/>
          <p:cNvCxnSpPr/>
          <p:nvPr/>
        </p:nvCxnSpPr>
        <p:spPr>
          <a:xfrm>
            <a:off x="5666377" y="5789553"/>
            <a:ext cx="944412" cy="3464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102"/>
              <p:cNvSpPr/>
              <p:nvPr/>
            </p:nvSpPr>
            <p:spPr>
              <a:xfrm>
                <a:off x="5903124" y="5095393"/>
                <a:ext cx="64056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3" name="Rectangle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124" y="5095393"/>
                <a:ext cx="640560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Group 103"/>
          <p:cNvGrpSpPr/>
          <p:nvPr/>
        </p:nvGrpSpPr>
        <p:grpSpPr>
          <a:xfrm>
            <a:off x="5961271" y="5696074"/>
            <a:ext cx="725327" cy="674133"/>
            <a:chOff x="676437" y="3263442"/>
            <a:chExt cx="725327" cy="674133"/>
          </a:xfrm>
        </p:grpSpPr>
        <p:sp>
          <p:nvSpPr>
            <p:cNvPr id="105" name="Oval 10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Rectangle 105"/>
                <p:cNvSpPr/>
                <p:nvPr/>
              </p:nvSpPr>
              <p:spPr>
                <a:xfrm>
                  <a:off x="676437" y="3352800"/>
                  <a:ext cx="72532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6" name="Rectangle 1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25327" cy="584775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/>
              <p:cNvSpPr/>
              <p:nvPr/>
            </p:nvSpPr>
            <p:spPr>
              <a:xfrm>
                <a:off x="1024128" y="2334824"/>
                <a:ext cx="978918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could be removed from the  critical list.</a:t>
                </a:r>
              </a:p>
            </p:txBody>
          </p:sp>
        </mc:Choice>
        <mc:Fallback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2334824"/>
                <a:ext cx="9789185" cy="646331"/>
              </a:xfrm>
              <a:prstGeom prst="rect">
                <a:avLst/>
              </a:prstGeom>
              <a:blipFill>
                <a:blip r:embed="rId20"/>
                <a:stretch>
                  <a:fillRect t="-14151" r="-1868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29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honeycomb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L -0.03073 0.0016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6" y="6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85185E-6 L -0.07748 0.00162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48148E-6 L -0.04909 0.00093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1" y="46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7 L -0.04609 0.00278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5" y="139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7037E-7 L -0.02357 0.00278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5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6" grpId="0"/>
      <p:bldP spid="26" grpId="1"/>
      <p:bldP spid="55" grpId="0"/>
      <p:bldP spid="69" grpId="0"/>
      <p:bldP spid="70" grpId="0"/>
      <p:bldP spid="88" grpId="1"/>
      <p:bldP spid="93" grpId="0"/>
      <p:bldP spid="98" grpId="0"/>
      <p:bldP spid="103" grpId="0"/>
      <p:bldP spid="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Observation (Cont.)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800282" y="4179691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783045" y="4179691"/>
            <a:ext cx="803658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50131" y="3447467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1" y="3447467"/>
                <a:ext cx="55015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148532" y="3502094"/>
                <a:ext cx="56303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32" y="3502094"/>
                <a:ext cx="56303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1522562" y="4090333"/>
            <a:ext cx="647806" cy="674133"/>
            <a:chOff x="676437" y="3263442"/>
            <a:chExt cx="647806" cy="674133"/>
          </a:xfrm>
        </p:grpSpPr>
        <p:sp>
          <p:nvSpPr>
            <p:cNvPr id="12" name="Oval 1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Connector 23"/>
          <p:cNvCxnSpPr/>
          <p:nvPr/>
        </p:nvCxnSpPr>
        <p:spPr>
          <a:xfrm>
            <a:off x="4287864" y="4190754"/>
            <a:ext cx="99253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506763" y="3493888"/>
                <a:ext cx="63690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763" y="3493888"/>
                <a:ext cx="63690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/>
          <p:cNvSpPr/>
          <p:nvPr/>
        </p:nvSpPr>
        <p:spPr>
          <a:xfrm>
            <a:off x="4643585" y="4093798"/>
            <a:ext cx="178716" cy="178716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449978" y="4183156"/>
                <a:ext cx="72167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978" y="4183156"/>
                <a:ext cx="72167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/>
          <p:nvPr/>
        </p:nvCxnSpPr>
        <p:spPr>
          <a:xfrm>
            <a:off x="5916469" y="4179691"/>
            <a:ext cx="1467706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6676510" y="3482067"/>
                <a:ext cx="64056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510" y="3482067"/>
                <a:ext cx="64056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/>
          <p:cNvGrpSpPr/>
          <p:nvPr/>
        </p:nvGrpSpPr>
        <p:grpSpPr>
          <a:xfrm>
            <a:off x="7103663" y="4082748"/>
            <a:ext cx="725327" cy="674133"/>
            <a:chOff x="676437" y="3263442"/>
            <a:chExt cx="725327" cy="674133"/>
          </a:xfrm>
        </p:grpSpPr>
        <p:sp>
          <p:nvSpPr>
            <p:cNvPr id="57" name="Oval 56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676437" y="3352800"/>
                  <a:ext cx="72532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25327" cy="584775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2" name="Straight Connector 61"/>
          <p:cNvCxnSpPr/>
          <p:nvPr/>
        </p:nvCxnSpPr>
        <p:spPr>
          <a:xfrm>
            <a:off x="766798" y="5740608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749561" y="5740608"/>
            <a:ext cx="803658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216647" y="5008384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47" y="5008384"/>
                <a:ext cx="550151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2115048" y="5063011"/>
                <a:ext cx="56303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048" y="5063011"/>
                <a:ext cx="563038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/>
          <p:cNvGrpSpPr/>
          <p:nvPr/>
        </p:nvGrpSpPr>
        <p:grpSpPr>
          <a:xfrm>
            <a:off x="1489078" y="5651250"/>
            <a:ext cx="647806" cy="674133"/>
            <a:chOff x="676437" y="3263442"/>
            <a:chExt cx="647806" cy="674133"/>
          </a:xfrm>
        </p:grpSpPr>
        <p:sp>
          <p:nvSpPr>
            <p:cNvPr id="79" name="Oval 7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/>
                <p:cNvSpPr/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2" name="Straight Connector 91"/>
          <p:cNvCxnSpPr/>
          <p:nvPr/>
        </p:nvCxnSpPr>
        <p:spPr>
          <a:xfrm>
            <a:off x="10771719" y="5741713"/>
            <a:ext cx="527184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/>
              <p:cNvSpPr/>
              <p:nvPr/>
            </p:nvSpPr>
            <p:spPr>
              <a:xfrm>
                <a:off x="10646447" y="5043688"/>
                <a:ext cx="952889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3" name="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447" y="5043688"/>
                <a:ext cx="952889" cy="6243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" name="Group 93"/>
          <p:cNvGrpSpPr/>
          <p:nvPr/>
        </p:nvGrpSpPr>
        <p:grpSpPr>
          <a:xfrm>
            <a:off x="11033518" y="5646657"/>
            <a:ext cx="1071191" cy="713696"/>
            <a:chOff x="676437" y="3263442"/>
            <a:chExt cx="1071191" cy="713696"/>
          </a:xfrm>
        </p:grpSpPr>
        <p:sp>
          <p:nvSpPr>
            <p:cNvPr id="95" name="Oval 9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Rectangle 95"/>
                <p:cNvSpPr/>
                <p:nvPr/>
              </p:nvSpPr>
              <p:spPr>
                <a:xfrm>
                  <a:off x="676437" y="3352800"/>
                  <a:ext cx="1071191" cy="6243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1071191" cy="62433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7" name="Straight Connector 96"/>
          <p:cNvCxnSpPr/>
          <p:nvPr/>
        </p:nvCxnSpPr>
        <p:spPr>
          <a:xfrm>
            <a:off x="8704124" y="5728415"/>
            <a:ext cx="1324258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/>
              <p:cNvSpPr/>
              <p:nvPr/>
            </p:nvSpPr>
            <p:spPr>
              <a:xfrm>
                <a:off x="9375144" y="5099273"/>
                <a:ext cx="561756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8" name="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144" y="5099273"/>
                <a:ext cx="561756" cy="6243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Group 98"/>
          <p:cNvGrpSpPr/>
          <p:nvPr/>
        </p:nvGrpSpPr>
        <p:grpSpPr>
          <a:xfrm>
            <a:off x="9758174" y="5638741"/>
            <a:ext cx="680058" cy="713696"/>
            <a:chOff x="676437" y="3263442"/>
            <a:chExt cx="680058" cy="713696"/>
          </a:xfrm>
        </p:grpSpPr>
        <p:sp>
          <p:nvSpPr>
            <p:cNvPr id="100" name="Oval 9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100"/>
                <p:cNvSpPr/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1" name="Straight Connector 50"/>
          <p:cNvCxnSpPr/>
          <p:nvPr/>
        </p:nvCxnSpPr>
        <p:spPr>
          <a:xfrm>
            <a:off x="4278877" y="5750832"/>
            <a:ext cx="99253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4497776" y="5053966"/>
                <a:ext cx="63690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776" y="5053966"/>
                <a:ext cx="636905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4277822" y="5643197"/>
            <a:ext cx="721671" cy="674133"/>
            <a:chOff x="676437" y="3263442"/>
            <a:chExt cx="721671" cy="674133"/>
          </a:xfrm>
        </p:grpSpPr>
        <p:sp>
          <p:nvSpPr>
            <p:cNvPr id="59" name="Oval 5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/>
                <p:cNvSpPr/>
                <p:nvPr/>
              </p:nvSpPr>
              <p:spPr>
                <a:xfrm>
                  <a:off x="676437" y="3352800"/>
                  <a:ext cx="72167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21671" cy="584775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1" name="Straight Connector 60"/>
          <p:cNvCxnSpPr/>
          <p:nvPr/>
        </p:nvCxnSpPr>
        <p:spPr>
          <a:xfrm>
            <a:off x="6257850" y="5732555"/>
            <a:ext cx="1467706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7017891" y="5034931"/>
                <a:ext cx="64056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891" y="5034931"/>
                <a:ext cx="640560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/>
          <p:cNvGrpSpPr/>
          <p:nvPr/>
        </p:nvGrpSpPr>
        <p:grpSpPr>
          <a:xfrm>
            <a:off x="7006162" y="5645028"/>
            <a:ext cx="725327" cy="674133"/>
            <a:chOff x="676437" y="3263442"/>
            <a:chExt cx="725327" cy="674133"/>
          </a:xfrm>
        </p:grpSpPr>
        <p:sp>
          <p:nvSpPr>
            <p:cNvPr id="66" name="Oval 6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/>
                <p:cNvSpPr/>
                <p:nvPr/>
              </p:nvSpPr>
              <p:spPr>
                <a:xfrm>
                  <a:off x="676437" y="3352800"/>
                  <a:ext cx="72532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25327" cy="584775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/>
              <p:cNvSpPr/>
              <p:nvPr/>
            </p:nvSpPr>
            <p:spPr>
              <a:xfrm>
                <a:off x="1572133" y="1948368"/>
                <a:ext cx="868867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should be checked earlier than following intervals in the critical list.</a:t>
                </a:r>
              </a:p>
            </p:txBody>
          </p:sp>
        </mc:Choice>
        <mc:Fallback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133" y="1948368"/>
                <a:ext cx="8688671" cy="1200329"/>
              </a:xfrm>
              <a:prstGeom prst="rect">
                <a:avLst/>
              </a:prstGeom>
              <a:blipFill>
                <a:blip r:embed="rId20"/>
                <a:stretch>
                  <a:fillRect l="-2175" t="-8122" b="-18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7175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-0.11966 0.00278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90" y="139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-0.07422 -0.00162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11" y="-93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7037E-6 L -0.08346 -0.00024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8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-0.03594 -0.00162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7" y="-9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7037E-6 L -0.04297 -0.00301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" y="-162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-0.04909 0.00278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44444E-6 L -0.06511 0.00277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55" y="139"/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-0.02227 0.00116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0" y="46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2.22222E-6 L -0.02878 0.00232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5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6" grpId="0"/>
      <p:bldP spid="33" grpId="0" animBg="1"/>
      <p:bldP spid="33" grpId="1" animBg="1"/>
      <p:bldP spid="33" grpId="2" animBg="1"/>
      <p:bldP spid="34" grpId="0"/>
      <p:bldP spid="34" grpId="1"/>
      <p:bldP spid="34" grpId="2"/>
      <p:bldP spid="55" grpId="0"/>
      <p:bldP spid="69" grpId="0"/>
      <p:bldP spid="70" grpId="0"/>
      <p:bldP spid="93" grpId="0"/>
      <p:bldP spid="98" grpId="0"/>
      <p:bldP spid="52" grpId="0"/>
      <p:bldP spid="63" grpId="0"/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800260" y="2817056"/>
            <a:ext cx="10915136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1783023" y="2817056"/>
            <a:ext cx="1247048" cy="6827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0109" y="2084832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09" y="2084832"/>
                <a:ext cx="55015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148510" y="2139459"/>
                <a:ext cx="6201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10" y="2139459"/>
                <a:ext cx="620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522540" y="2727698"/>
            <a:ext cx="704872" cy="674133"/>
            <a:chOff x="676437" y="3263442"/>
            <a:chExt cx="704872" cy="674133"/>
          </a:xfrm>
        </p:grpSpPr>
        <p:sp>
          <p:nvSpPr>
            <p:cNvPr id="8" name="Oval 7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Connector 9"/>
          <p:cNvCxnSpPr/>
          <p:nvPr/>
        </p:nvCxnSpPr>
        <p:spPr>
          <a:xfrm>
            <a:off x="4159624" y="2823883"/>
            <a:ext cx="1171409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557399" y="2127017"/>
                <a:ext cx="6369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399" y="2127017"/>
                <a:ext cx="63690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4633859" y="2727698"/>
            <a:ext cx="721671" cy="674133"/>
            <a:chOff x="676437" y="3263442"/>
            <a:chExt cx="721671" cy="674133"/>
          </a:xfrm>
        </p:grpSpPr>
        <p:sp>
          <p:nvSpPr>
            <p:cNvPr id="13" name="Oval 12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676437" y="3352800"/>
                  <a:ext cx="72167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21671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/>
          <p:cNvCxnSpPr/>
          <p:nvPr/>
        </p:nvCxnSpPr>
        <p:spPr>
          <a:xfrm flipV="1">
            <a:off x="6719000" y="2824641"/>
            <a:ext cx="1066043" cy="737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077378" y="2127017"/>
                <a:ext cx="78374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378" y="2127017"/>
                <a:ext cx="783741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7327723" y="2724234"/>
            <a:ext cx="868507" cy="674133"/>
            <a:chOff x="676437" y="3263442"/>
            <a:chExt cx="868507" cy="674133"/>
          </a:xfrm>
        </p:grpSpPr>
        <p:sp>
          <p:nvSpPr>
            <p:cNvPr id="18" name="Oval 17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676437" y="3352800"/>
                  <a:ext cx="86850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868507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Straight Connector 19"/>
          <p:cNvCxnSpPr/>
          <p:nvPr/>
        </p:nvCxnSpPr>
        <p:spPr>
          <a:xfrm flipV="1">
            <a:off x="9388711" y="2808735"/>
            <a:ext cx="767494" cy="8321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448540" y="2111111"/>
                <a:ext cx="783741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540" y="2111111"/>
                <a:ext cx="783741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/>
          <p:cNvGrpSpPr/>
          <p:nvPr/>
        </p:nvGrpSpPr>
        <p:grpSpPr>
          <a:xfrm>
            <a:off x="9875693" y="2711792"/>
            <a:ext cx="868507" cy="674133"/>
            <a:chOff x="676437" y="3263442"/>
            <a:chExt cx="868507" cy="674133"/>
          </a:xfrm>
        </p:grpSpPr>
        <p:sp>
          <p:nvSpPr>
            <p:cNvPr id="23" name="Oval 22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676437" y="3352800"/>
                  <a:ext cx="86850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868507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895969" y="4371147"/>
                <a:ext cx="3380444" cy="10273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num>
                        <m:den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num>
                        <m:den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19</m:t>
                          </m:r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969" y="4371147"/>
                <a:ext cx="3380444" cy="10273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950589" y="4371147"/>
                <a:ext cx="3380444" cy="10273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num>
                        <m:den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589" y="4371147"/>
                <a:ext cx="3380444" cy="102733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0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6" grpId="0"/>
      <p:bldP spid="21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 Critical List of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746395" y="4367507"/>
                <a:ext cx="8680580" cy="1266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3600" dirty="0"/>
                        <m:t> 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395" y="4367507"/>
                <a:ext cx="8680580" cy="12668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1599353" y="2774871"/>
            <a:ext cx="803658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964840" y="2097274"/>
                <a:ext cx="56303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840" y="2097274"/>
                <a:ext cx="56303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338870" y="2685513"/>
            <a:ext cx="647806" cy="674133"/>
            <a:chOff x="676437" y="3263442"/>
            <a:chExt cx="647806" cy="674133"/>
          </a:xfrm>
        </p:grpSpPr>
        <p:sp>
          <p:nvSpPr>
            <p:cNvPr id="9" name="Oval 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47806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Connector 10"/>
          <p:cNvCxnSpPr/>
          <p:nvPr/>
        </p:nvCxnSpPr>
        <p:spPr>
          <a:xfrm>
            <a:off x="4442413" y="2781698"/>
            <a:ext cx="1220577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889356" y="2084832"/>
                <a:ext cx="805670" cy="630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356" y="2084832"/>
                <a:ext cx="805670" cy="6307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4840392" y="2685513"/>
            <a:ext cx="890436" cy="720108"/>
            <a:chOff x="676437" y="3263442"/>
            <a:chExt cx="890436" cy="720108"/>
          </a:xfrm>
        </p:grpSpPr>
        <p:sp>
          <p:nvSpPr>
            <p:cNvPr id="14" name="Oval 13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676437" y="3352800"/>
                  <a:ext cx="890436" cy="6307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890436" cy="63075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Connector 20"/>
          <p:cNvCxnSpPr/>
          <p:nvPr/>
        </p:nvCxnSpPr>
        <p:spPr>
          <a:xfrm>
            <a:off x="9694791" y="2764514"/>
            <a:ext cx="855620" cy="2757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9897173" y="2138129"/>
                <a:ext cx="561756" cy="624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7173" y="2138129"/>
                <a:ext cx="561756" cy="6243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10280203" y="2677597"/>
            <a:ext cx="680058" cy="713696"/>
            <a:chOff x="676437" y="3263442"/>
            <a:chExt cx="680058" cy="713696"/>
          </a:xfrm>
        </p:grpSpPr>
        <p:sp>
          <p:nvSpPr>
            <p:cNvPr id="24" name="Oval 23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80058" cy="624338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Straight Connector 25"/>
          <p:cNvCxnSpPr/>
          <p:nvPr/>
        </p:nvCxnSpPr>
        <p:spPr>
          <a:xfrm>
            <a:off x="7206883" y="2778992"/>
            <a:ext cx="944412" cy="3464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7443630" y="2084832"/>
                <a:ext cx="1135888" cy="6326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630" y="2084832"/>
                <a:ext cx="1135888" cy="6326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7501777" y="2685513"/>
            <a:ext cx="1220655" cy="722032"/>
            <a:chOff x="676437" y="3263442"/>
            <a:chExt cx="1220655" cy="722032"/>
          </a:xfrm>
        </p:grpSpPr>
        <p:sp>
          <p:nvSpPr>
            <p:cNvPr id="29" name="Oval 2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676437" y="3352800"/>
                  <a:ext cx="1220655" cy="63267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1220655" cy="632674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13652" y="2933847"/>
                <a:ext cx="1337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652" y="2933847"/>
                <a:ext cx="1337610" cy="461665"/>
              </a:xfrm>
              <a:prstGeom prst="rect">
                <a:avLst/>
              </a:prstGeom>
              <a:blipFill>
                <a:blip r:embed="rId13"/>
                <a:stretch>
                  <a:fillRect l="-457" r="-457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>
            <a:off x="2764826" y="2774871"/>
            <a:ext cx="1341591" cy="0"/>
          </a:xfrm>
          <a:prstGeom prst="line">
            <a:avLst/>
          </a:prstGeom>
          <a:ln w="50800">
            <a:prstDash val="dash"/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038287" y="2781698"/>
            <a:ext cx="806629" cy="0"/>
          </a:xfrm>
          <a:prstGeom prst="line">
            <a:avLst/>
          </a:prstGeom>
          <a:ln w="50800">
            <a:prstDash val="dash"/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424812" y="2782102"/>
            <a:ext cx="998547" cy="0"/>
          </a:xfrm>
          <a:prstGeom prst="line">
            <a:avLst/>
          </a:prstGeom>
          <a:ln w="50800">
            <a:prstDash val="dash"/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75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/>
      <p:bldP spid="22" grpId="0"/>
      <p:bldP spid="27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875066" y="3329113"/>
                <a:ext cx="864053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Update the list in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𝑂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(1)</m:t>
                    </m:r>
                  </m:oMath>
                </a14:m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amortized time for processing each interval</a:t>
                </a: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066" y="3329113"/>
                <a:ext cx="8640533" cy="1200329"/>
              </a:xfrm>
              <a:prstGeom prst="rect">
                <a:avLst/>
              </a:prstGeom>
              <a:blipFill>
                <a:blip r:embed="rId2"/>
                <a:stretch>
                  <a:fillRect l="-2188" t="-7614" b="-18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875065" y="2405748"/>
            <a:ext cx="86405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Maintain a critical list of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875064" y="4806476"/>
                <a:ext cx="864053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Total time: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𝑂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endParaRPr lang="en-US" sz="3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064" y="4806476"/>
                <a:ext cx="8640533" cy="646331"/>
              </a:xfrm>
              <a:prstGeom prst="rect">
                <a:avLst/>
              </a:prstGeom>
              <a:blipFill>
                <a:blip r:embed="rId3"/>
                <a:stretch>
                  <a:fillRect l="-2188"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78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Cycle Version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376086" y="2191264"/>
            <a:ext cx="4053018" cy="4053017"/>
            <a:chOff x="5387546" y="2388972"/>
            <a:chExt cx="4053018" cy="4053017"/>
          </a:xfrm>
        </p:grpSpPr>
        <p:grpSp>
          <p:nvGrpSpPr>
            <p:cNvPr id="11" name="Group 10"/>
            <p:cNvGrpSpPr/>
            <p:nvPr/>
          </p:nvGrpSpPr>
          <p:grpSpPr>
            <a:xfrm>
              <a:off x="5387546" y="2388973"/>
              <a:ext cx="4053018" cy="4053016"/>
              <a:chOff x="5387546" y="2388973"/>
              <a:chExt cx="4053018" cy="4053016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5387546" y="2388973"/>
                <a:ext cx="4053016" cy="405301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Arc 5"/>
              <p:cNvSpPr/>
              <p:nvPr/>
            </p:nvSpPr>
            <p:spPr>
              <a:xfrm>
                <a:off x="5387546" y="2388973"/>
                <a:ext cx="4053016" cy="4053016"/>
              </a:xfrm>
              <a:prstGeom prst="arc">
                <a:avLst>
                  <a:gd name="adj1" fmla="val 16994431"/>
                  <a:gd name="adj2" fmla="val 19612188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" name="Arc 6"/>
              <p:cNvSpPr/>
              <p:nvPr/>
            </p:nvSpPr>
            <p:spPr>
              <a:xfrm rot="17093866">
                <a:off x="5387546" y="2388973"/>
                <a:ext cx="4053016" cy="4053016"/>
              </a:xfrm>
              <a:prstGeom prst="arc">
                <a:avLst>
                  <a:gd name="adj1" fmla="val 17814517"/>
                  <a:gd name="adj2" fmla="val 19612188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" name="Arc 9"/>
              <p:cNvSpPr/>
              <p:nvPr/>
            </p:nvSpPr>
            <p:spPr>
              <a:xfrm rot="4459269">
                <a:off x="5387548" y="2388973"/>
                <a:ext cx="4053016" cy="4053016"/>
              </a:xfrm>
              <a:prstGeom prst="arc">
                <a:avLst>
                  <a:gd name="adj1" fmla="val 16227188"/>
                  <a:gd name="adj2" fmla="val 17873996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8" name="Arc 7"/>
            <p:cNvSpPr/>
            <p:nvPr/>
          </p:nvSpPr>
          <p:spPr>
            <a:xfrm rot="12494633">
              <a:off x="5387547" y="2388972"/>
              <a:ext cx="4053016" cy="4053016"/>
            </a:xfrm>
            <a:prstGeom prst="arc">
              <a:avLst>
                <a:gd name="adj1" fmla="val 16227188"/>
                <a:gd name="adj2" fmla="val 19612188"/>
              </a:avLst>
            </a:prstGeom>
            <a:ln w="38100">
              <a:headEnd type="diamond" w="med" len="med"/>
              <a:tailEnd type="diamond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104739" y="2973157"/>
                <a:ext cx="5271347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a cycle version, the intervals are arcs on a </a:t>
                </a:r>
                <a:r>
                  <a:rPr lang="en-US" sz="3600" b="1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cycle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𝑪</m:t>
                    </m:r>
                  </m:oMath>
                </a14:m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739" y="2973157"/>
                <a:ext cx="5271347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3468" t="-5556" r="-2543" b="-12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0407578" y="3806224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7578" y="3806224"/>
                <a:ext cx="620106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795391" y="1945796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91" y="1945796"/>
                <a:ext cx="61061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9508626" y="2037917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626" y="2037917"/>
                <a:ext cx="620106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235828" y="5127550"/>
                <a:ext cx="6201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828" y="5127550"/>
                <a:ext cx="620105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6642843" y="2776044"/>
            <a:ext cx="695382" cy="674133"/>
            <a:chOff x="676437" y="3263442"/>
            <a:chExt cx="695382" cy="674133"/>
          </a:xfrm>
        </p:grpSpPr>
        <p:sp>
          <p:nvSpPr>
            <p:cNvPr id="20" name="Oval 1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9752840" y="4383668"/>
            <a:ext cx="737670" cy="584775"/>
            <a:chOff x="311090" y="3109817"/>
            <a:chExt cx="737670" cy="584775"/>
          </a:xfrm>
        </p:grpSpPr>
        <p:sp>
          <p:nvSpPr>
            <p:cNvPr id="23" name="Oval 22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311090" y="3109817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090" y="3109817"/>
                  <a:ext cx="704872" cy="5847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/>
          <p:cNvGrpSpPr/>
          <p:nvPr/>
        </p:nvGrpSpPr>
        <p:grpSpPr>
          <a:xfrm>
            <a:off x="9223802" y="2438977"/>
            <a:ext cx="704872" cy="674133"/>
            <a:chOff x="676437" y="3263442"/>
            <a:chExt cx="704872" cy="674133"/>
          </a:xfrm>
        </p:grpSpPr>
        <p:sp>
          <p:nvSpPr>
            <p:cNvPr id="26" name="Oval 2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/>
          <p:cNvGrpSpPr/>
          <p:nvPr/>
        </p:nvGrpSpPr>
        <p:grpSpPr>
          <a:xfrm>
            <a:off x="6698610" y="4782653"/>
            <a:ext cx="741784" cy="736842"/>
            <a:chOff x="870044" y="2705316"/>
            <a:chExt cx="741784" cy="736842"/>
          </a:xfrm>
        </p:grpSpPr>
        <p:sp>
          <p:nvSpPr>
            <p:cNvPr id="29" name="Oval 2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909969" y="2705316"/>
                  <a:ext cx="70185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969" y="2705316"/>
                  <a:ext cx="701859" cy="58477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5451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it to a Line Version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78572" y="2084832"/>
            <a:ext cx="2430165" cy="2431607"/>
            <a:chOff x="5387546" y="2388972"/>
            <a:chExt cx="4053018" cy="4055424"/>
          </a:xfrm>
        </p:grpSpPr>
        <p:grpSp>
          <p:nvGrpSpPr>
            <p:cNvPr id="4" name="Group 3"/>
            <p:cNvGrpSpPr/>
            <p:nvPr/>
          </p:nvGrpSpPr>
          <p:grpSpPr>
            <a:xfrm>
              <a:off x="5387546" y="2388972"/>
              <a:ext cx="4053016" cy="4055424"/>
              <a:chOff x="5387546" y="2388972"/>
              <a:chExt cx="4053016" cy="4055424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387546" y="2388973"/>
                <a:ext cx="4053016" cy="405301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Arc 6"/>
              <p:cNvSpPr/>
              <p:nvPr/>
            </p:nvSpPr>
            <p:spPr>
              <a:xfrm>
                <a:off x="5387546" y="2388974"/>
                <a:ext cx="4053015" cy="4053016"/>
              </a:xfrm>
              <a:prstGeom prst="arc">
                <a:avLst>
                  <a:gd name="adj1" fmla="val 17691817"/>
                  <a:gd name="adj2" fmla="val 20456546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" name="Arc 7"/>
              <p:cNvSpPr/>
              <p:nvPr/>
            </p:nvSpPr>
            <p:spPr>
              <a:xfrm rot="17093866">
                <a:off x="5387547" y="2388972"/>
                <a:ext cx="4053016" cy="4053015"/>
              </a:xfrm>
              <a:prstGeom prst="arc">
                <a:avLst>
                  <a:gd name="adj1" fmla="val 17814517"/>
                  <a:gd name="adj2" fmla="val 20781181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" name="Arc 8"/>
              <p:cNvSpPr/>
              <p:nvPr/>
            </p:nvSpPr>
            <p:spPr>
              <a:xfrm rot="8233421">
                <a:off x="5515696" y="2422541"/>
                <a:ext cx="3862861" cy="4021855"/>
              </a:xfrm>
              <a:prstGeom prst="arc">
                <a:avLst>
                  <a:gd name="adj1" fmla="val 15218588"/>
                  <a:gd name="adj2" fmla="val 17048786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5" name="Arc 4"/>
            <p:cNvSpPr/>
            <p:nvPr/>
          </p:nvSpPr>
          <p:spPr>
            <a:xfrm rot="12494633">
              <a:off x="5387548" y="2388972"/>
              <a:ext cx="4053016" cy="4053016"/>
            </a:xfrm>
            <a:prstGeom prst="arc">
              <a:avLst>
                <a:gd name="adj1" fmla="val 20610768"/>
                <a:gd name="adj2" fmla="val 76129"/>
              </a:avLst>
            </a:prstGeom>
            <a:ln w="38100">
              <a:headEnd type="diamond" w="med" len="med"/>
              <a:tailEnd type="diamond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0" name="Flowchart: Collate 9"/>
          <p:cNvSpPr/>
          <p:nvPr/>
        </p:nvSpPr>
        <p:spPr>
          <a:xfrm rot="19184490">
            <a:off x="2323393" y="2412585"/>
            <a:ext cx="128424" cy="148181"/>
          </a:xfrm>
          <a:prstGeom prst="flowChartCollate">
            <a:avLst/>
          </a:prstGeom>
          <a:solidFill>
            <a:srgbClr val="FF0000"/>
          </a:solidFill>
          <a:ln w="19050">
            <a:solidFill>
              <a:srgbClr val="FFFF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  <a:outerShdw blurRad="76200" dist="25400" dir="5400000" algn="ctr" rotWithShape="0">
              <a:srgbClr val="000000">
                <a:alpha val="60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711852" y="5622719"/>
            <a:ext cx="5942444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711852" y="5622719"/>
            <a:ext cx="5466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666609" y="5622719"/>
            <a:ext cx="94121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497902" y="5622718"/>
            <a:ext cx="48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0749914" y="5238455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9914" y="5238455"/>
                <a:ext cx="55015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179180" y="1718854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180" y="1718854"/>
                <a:ext cx="61061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888628" y="1813284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628" y="1813284"/>
                <a:ext cx="620106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456612" y="4948878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612" y="4948878"/>
                <a:ext cx="62010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9669583" y="5614017"/>
            <a:ext cx="696630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681471" y="4948880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471" y="4948880"/>
                <a:ext cx="61061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5828675" y="4965498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675" y="4965498"/>
                <a:ext cx="62010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047422" y="4048661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422" y="4048661"/>
                <a:ext cx="620106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9705351" y="4989889"/>
                <a:ext cx="6201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5351" y="4989889"/>
                <a:ext cx="62010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591220" y="2404762"/>
                <a:ext cx="6201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220" y="2404762"/>
                <a:ext cx="620105" cy="58477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Flowchart: Collate 82"/>
          <p:cNvSpPr/>
          <p:nvPr/>
        </p:nvSpPr>
        <p:spPr>
          <a:xfrm>
            <a:off x="4647374" y="5550941"/>
            <a:ext cx="128424" cy="148181"/>
          </a:xfrm>
          <a:prstGeom prst="flowChartCollate">
            <a:avLst/>
          </a:prstGeom>
          <a:solidFill>
            <a:srgbClr val="FF0000"/>
          </a:solidFill>
          <a:ln w="19050">
            <a:solidFill>
              <a:srgbClr val="FFFF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  <a:outerShdw blurRad="76200" dist="25400" dir="5400000" algn="ctr" rotWithShape="0">
              <a:srgbClr val="000000">
                <a:alpha val="60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4" name="Group 83"/>
          <p:cNvGrpSpPr/>
          <p:nvPr/>
        </p:nvGrpSpPr>
        <p:grpSpPr>
          <a:xfrm>
            <a:off x="4426523" y="5537211"/>
            <a:ext cx="695382" cy="674133"/>
            <a:chOff x="676437" y="3263442"/>
            <a:chExt cx="695382" cy="674133"/>
          </a:xfrm>
        </p:grpSpPr>
        <p:sp>
          <p:nvSpPr>
            <p:cNvPr id="85" name="Oval 8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Group 86"/>
          <p:cNvGrpSpPr/>
          <p:nvPr/>
        </p:nvGrpSpPr>
        <p:grpSpPr>
          <a:xfrm>
            <a:off x="2264686" y="2404762"/>
            <a:ext cx="695382" cy="609414"/>
            <a:chOff x="828914" y="3263442"/>
            <a:chExt cx="695382" cy="609414"/>
          </a:xfrm>
        </p:grpSpPr>
        <p:sp>
          <p:nvSpPr>
            <p:cNvPr id="88" name="Oval 87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828914" y="3288081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914" y="3288081"/>
                  <a:ext cx="695382" cy="584775"/>
                </a:xfrm>
                <a:prstGeom prst="rect">
                  <a:avLst/>
                </a:prstGeom>
                <a:blipFill rotWithShape="0"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/>
          <p:cNvGrpSpPr/>
          <p:nvPr/>
        </p:nvGrpSpPr>
        <p:grpSpPr>
          <a:xfrm>
            <a:off x="9397397" y="5546747"/>
            <a:ext cx="701859" cy="674133"/>
            <a:chOff x="676437" y="3263442"/>
            <a:chExt cx="701859" cy="674133"/>
          </a:xfrm>
        </p:grpSpPr>
        <p:sp>
          <p:nvSpPr>
            <p:cNvPr id="91" name="Oval 90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91"/>
                <p:cNvSpPr/>
                <p:nvPr/>
              </p:nvSpPr>
              <p:spPr>
                <a:xfrm>
                  <a:off x="676437" y="3352800"/>
                  <a:ext cx="70185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2" name="Rectangle 9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1859" cy="584775"/>
                </a:xfrm>
                <a:prstGeom prst="rect">
                  <a:avLst/>
                </a:prstGeom>
                <a:blipFill rotWithShape="0"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Group 92"/>
          <p:cNvGrpSpPr/>
          <p:nvPr/>
        </p:nvGrpSpPr>
        <p:grpSpPr>
          <a:xfrm>
            <a:off x="1535741" y="2844337"/>
            <a:ext cx="701859" cy="584775"/>
            <a:chOff x="377604" y="3182961"/>
            <a:chExt cx="701859" cy="584775"/>
          </a:xfrm>
        </p:grpSpPr>
        <p:sp>
          <p:nvSpPr>
            <p:cNvPr id="94" name="Oval 93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Rectangle 94"/>
                <p:cNvSpPr/>
                <p:nvPr/>
              </p:nvSpPr>
              <p:spPr>
                <a:xfrm>
                  <a:off x="377604" y="3182961"/>
                  <a:ext cx="70185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5" name="Rectangle 9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604" y="3182961"/>
                  <a:ext cx="701859" cy="584775"/>
                </a:xfrm>
                <a:prstGeom prst="rect">
                  <a:avLst/>
                </a:prstGeom>
                <a:blipFill rotWithShape="0"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Group 95"/>
          <p:cNvGrpSpPr/>
          <p:nvPr/>
        </p:nvGrpSpPr>
        <p:grpSpPr>
          <a:xfrm>
            <a:off x="7685896" y="5531515"/>
            <a:ext cx="704872" cy="674133"/>
            <a:chOff x="676437" y="3263442"/>
            <a:chExt cx="704872" cy="674133"/>
          </a:xfrm>
        </p:grpSpPr>
        <p:sp>
          <p:nvSpPr>
            <p:cNvPr id="97" name="Oval 96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angle 97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4" name="Rectangle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Group 98"/>
          <p:cNvGrpSpPr/>
          <p:nvPr/>
        </p:nvGrpSpPr>
        <p:grpSpPr>
          <a:xfrm>
            <a:off x="5985767" y="5538503"/>
            <a:ext cx="704872" cy="674133"/>
            <a:chOff x="676437" y="3263442"/>
            <a:chExt cx="704872" cy="674133"/>
          </a:xfrm>
        </p:grpSpPr>
        <p:sp>
          <p:nvSpPr>
            <p:cNvPr id="100" name="Oval 9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100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Group 101"/>
          <p:cNvGrpSpPr/>
          <p:nvPr/>
        </p:nvGrpSpPr>
        <p:grpSpPr>
          <a:xfrm>
            <a:off x="3615617" y="4248185"/>
            <a:ext cx="704872" cy="674133"/>
            <a:chOff x="676437" y="3263442"/>
            <a:chExt cx="704872" cy="674133"/>
          </a:xfrm>
        </p:grpSpPr>
        <p:sp>
          <p:nvSpPr>
            <p:cNvPr id="103" name="Oval 102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103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4" name="Rectangle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5" name="Group 104"/>
          <p:cNvGrpSpPr/>
          <p:nvPr/>
        </p:nvGrpSpPr>
        <p:grpSpPr>
          <a:xfrm>
            <a:off x="3822148" y="2556853"/>
            <a:ext cx="704872" cy="584775"/>
            <a:chOff x="451163" y="3225940"/>
            <a:chExt cx="704872" cy="584775"/>
          </a:xfrm>
        </p:grpSpPr>
        <p:sp>
          <p:nvSpPr>
            <p:cNvPr id="106" name="Oval 10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106"/>
                <p:cNvSpPr/>
                <p:nvPr/>
              </p:nvSpPr>
              <p:spPr>
                <a:xfrm>
                  <a:off x="451163" y="322594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7" name="Rectangle 1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163" y="3225940"/>
                  <a:ext cx="704872" cy="584775"/>
                </a:xfrm>
                <a:prstGeom prst="rect">
                  <a:avLst/>
                </a:prstGeom>
                <a:blipFill rotWithShape="0"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Group 107"/>
          <p:cNvGrpSpPr/>
          <p:nvPr/>
        </p:nvGrpSpPr>
        <p:grpSpPr>
          <a:xfrm>
            <a:off x="1967981" y="2929993"/>
            <a:ext cx="701859" cy="584775"/>
            <a:chOff x="808190" y="3263360"/>
            <a:chExt cx="701859" cy="584775"/>
          </a:xfrm>
        </p:grpSpPr>
        <p:sp>
          <p:nvSpPr>
            <p:cNvPr id="109" name="Oval 10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Rectangle 109"/>
                <p:cNvSpPr/>
                <p:nvPr/>
              </p:nvSpPr>
              <p:spPr>
                <a:xfrm>
                  <a:off x="808190" y="3263360"/>
                  <a:ext cx="70185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0" name="Rectangle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90" y="3263360"/>
                  <a:ext cx="701859" cy="584775"/>
                </a:xfrm>
                <a:prstGeom prst="rect">
                  <a:avLst/>
                </a:prstGeom>
                <a:blipFill rotWithShape="0"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/>
          <p:cNvGrpSpPr/>
          <p:nvPr/>
        </p:nvGrpSpPr>
        <p:grpSpPr>
          <a:xfrm>
            <a:off x="4361449" y="2715138"/>
            <a:ext cx="789299" cy="584775"/>
            <a:chOff x="870044" y="3155778"/>
            <a:chExt cx="789299" cy="584775"/>
          </a:xfrm>
        </p:grpSpPr>
        <p:sp>
          <p:nvSpPr>
            <p:cNvPr id="112" name="Oval 11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Rectangle 112"/>
                <p:cNvSpPr/>
                <p:nvPr/>
              </p:nvSpPr>
              <p:spPr>
                <a:xfrm>
                  <a:off x="954470" y="3155778"/>
                  <a:ext cx="70487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3" name="Rectangle 1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470" y="3155778"/>
                  <a:ext cx="704873" cy="58477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/>
          <p:cNvGrpSpPr/>
          <p:nvPr/>
        </p:nvGrpSpPr>
        <p:grpSpPr>
          <a:xfrm>
            <a:off x="2895462" y="2001051"/>
            <a:ext cx="695382" cy="674133"/>
            <a:chOff x="676437" y="3263442"/>
            <a:chExt cx="695382" cy="674133"/>
          </a:xfrm>
        </p:grpSpPr>
        <p:sp>
          <p:nvSpPr>
            <p:cNvPr id="115" name="Oval 11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tangle 115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6" name="Rectangle 1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/>
          <p:cNvGrpSpPr/>
          <p:nvPr/>
        </p:nvGrpSpPr>
        <p:grpSpPr>
          <a:xfrm>
            <a:off x="3581159" y="3556007"/>
            <a:ext cx="704873" cy="759984"/>
            <a:chOff x="454361" y="2682174"/>
            <a:chExt cx="704873" cy="759984"/>
          </a:xfrm>
        </p:grpSpPr>
        <p:sp>
          <p:nvSpPr>
            <p:cNvPr id="118" name="Oval 117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Rectangle 118"/>
                <p:cNvSpPr/>
                <p:nvPr/>
              </p:nvSpPr>
              <p:spPr>
                <a:xfrm>
                  <a:off x="454361" y="2682174"/>
                  <a:ext cx="70487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9" name="Rectangle 1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361" y="2682174"/>
                  <a:ext cx="704873" cy="58477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ectangle 119"/>
              <p:cNvSpPr/>
              <p:nvPr/>
            </p:nvSpPr>
            <p:spPr>
              <a:xfrm>
                <a:off x="5932592" y="2259561"/>
                <a:ext cx="5271347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Where should we cut the </a:t>
                </a:r>
                <a:r>
                  <a:rPr lang="en-US" sz="3600" b="1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cycle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𝑪</m:t>
                    </m:r>
                  </m:oMath>
                </a14:m>
                <a:r>
                  <a:rPr lang="en-US" sz="36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a line segment?</a:t>
                </a:r>
              </a:p>
            </p:txBody>
          </p:sp>
        </mc:Choice>
        <mc:Fallback xmlns="">
          <p:sp>
            <p:nvSpPr>
              <p:cNvPr id="120" name="Rectangle 1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592" y="2259561"/>
                <a:ext cx="5271347" cy="1754326"/>
              </a:xfrm>
              <a:prstGeom prst="rect">
                <a:avLst/>
              </a:prstGeom>
              <a:blipFill>
                <a:blip r:embed="rId36"/>
                <a:stretch>
                  <a:fillRect l="-3468" t="-5575" r="-1503" b="-12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72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7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0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3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6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  <p:bldP spid="16" grpId="0"/>
      <p:bldP spid="17" grpId="0"/>
      <p:bldP spid="18" grpId="0"/>
      <p:bldP spid="34" grpId="0"/>
      <p:bldP spid="35" grpId="0"/>
      <p:bldP spid="36" grpId="0"/>
      <p:bldP spid="37" grpId="0"/>
      <p:bldP spid="38" grpId="0"/>
      <p:bldP spid="83" grpId="0" animBg="1"/>
      <p:bldP spid="1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Duplicate the Line Segment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78572" y="2084832"/>
            <a:ext cx="2430165" cy="2431607"/>
            <a:chOff x="5387546" y="2388972"/>
            <a:chExt cx="4053018" cy="4055424"/>
          </a:xfrm>
        </p:grpSpPr>
        <p:grpSp>
          <p:nvGrpSpPr>
            <p:cNvPr id="4" name="Group 3"/>
            <p:cNvGrpSpPr/>
            <p:nvPr/>
          </p:nvGrpSpPr>
          <p:grpSpPr>
            <a:xfrm>
              <a:off x="5387546" y="2388972"/>
              <a:ext cx="4053016" cy="4055424"/>
              <a:chOff x="5387546" y="2388972"/>
              <a:chExt cx="4053016" cy="4055424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387546" y="2388973"/>
                <a:ext cx="4053016" cy="405301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Arc 6"/>
              <p:cNvSpPr/>
              <p:nvPr/>
            </p:nvSpPr>
            <p:spPr>
              <a:xfrm>
                <a:off x="5387546" y="2388974"/>
                <a:ext cx="4053015" cy="4053016"/>
              </a:xfrm>
              <a:prstGeom prst="arc">
                <a:avLst>
                  <a:gd name="adj1" fmla="val 17691817"/>
                  <a:gd name="adj2" fmla="val 20456546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" name="Arc 7"/>
              <p:cNvSpPr/>
              <p:nvPr/>
            </p:nvSpPr>
            <p:spPr>
              <a:xfrm rot="17093866">
                <a:off x="5387547" y="2388972"/>
                <a:ext cx="4053016" cy="4053015"/>
              </a:xfrm>
              <a:prstGeom prst="arc">
                <a:avLst>
                  <a:gd name="adj1" fmla="val 17814517"/>
                  <a:gd name="adj2" fmla="val 20781181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" name="Arc 8"/>
              <p:cNvSpPr/>
              <p:nvPr/>
            </p:nvSpPr>
            <p:spPr>
              <a:xfrm rot="8233421">
                <a:off x="5515696" y="2422541"/>
                <a:ext cx="3862861" cy="4021855"/>
              </a:xfrm>
              <a:prstGeom prst="arc">
                <a:avLst>
                  <a:gd name="adj1" fmla="val 15218588"/>
                  <a:gd name="adj2" fmla="val 17048786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5" name="Arc 4"/>
            <p:cNvSpPr/>
            <p:nvPr/>
          </p:nvSpPr>
          <p:spPr>
            <a:xfrm rot="12494633">
              <a:off x="5387548" y="2388972"/>
              <a:ext cx="4053016" cy="4053016"/>
            </a:xfrm>
            <a:prstGeom prst="arc">
              <a:avLst>
                <a:gd name="adj1" fmla="val 20610768"/>
                <a:gd name="adj2" fmla="val 76129"/>
              </a:avLst>
            </a:prstGeom>
            <a:ln w="38100">
              <a:headEnd type="diamond" w="med" len="med"/>
              <a:tailEnd type="diamond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0" name="Flowchart: Collate 9"/>
          <p:cNvSpPr/>
          <p:nvPr/>
        </p:nvSpPr>
        <p:spPr>
          <a:xfrm rot="19184490">
            <a:off x="2323393" y="2412585"/>
            <a:ext cx="128424" cy="148181"/>
          </a:xfrm>
          <a:prstGeom prst="flowChartCollate">
            <a:avLst/>
          </a:prstGeom>
          <a:solidFill>
            <a:srgbClr val="FF0000"/>
          </a:solidFill>
          <a:ln w="19050">
            <a:solidFill>
              <a:srgbClr val="FFFF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  <a:outerShdw blurRad="76200" dist="25400" dir="5400000" algn="ctr" rotWithShape="0">
              <a:srgbClr val="000000">
                <a:alpha val="60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5499912" y="2765653"/>
            <a:ext cx="5942444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99912" y="2765653"/>
            <a:ext cx="5466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54669" y="2765653"/>
            <a:ext cx="94121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285962" y="2765652"/>
            <a:ext cx="48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1537974" y="2381389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7974" y="2381389"/>
                <a:ext cx="550151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179180" y="1718854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180" y="1718854"/>
                <a:ext cx="610616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888628" y="1813284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628" y="1813284"/>
                <a:ext cx="620106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244672" y="2091812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672" y="2091812"/>
                <a:ext cx="620106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10457643" y="2756951"/>
            <a:ext cx="696630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5469531" y="2091814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531" y="2091814"/>
                <a:ext cx="610616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6616735" y="2108432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735" y="2108432"/>
                <a:ext cx="620106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047422" y="4048661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422" y="4048661"/>
                <a:ext cx="620106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0493411" y="2132823"/>
                <a:ext cx="6201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3411" y="2132823"/>
                <a:ext cx="620105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591220" y="2404762"/>
                <a:ext cx="6201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220" y="2404762"/>
                <a:ext cx="620105" cy="58477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/>
          <p:cNvCxnSpPr/>
          <p:nvPr/>
        </p:nvCxnSpPr>
        <p:spPr>
          <a:xfrm>
            <a:off x="266648" y="5375739"/>
            <a:ext cx="5942444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66648" y="5375739"/>
            <a:ext cx="5466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221405" y="5375739"/>
            <a:ext cx="6710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080749" y="5391003"/>
            <a:ext cx="48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3080216" y="4778685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216" y="4778685"/>
                <a:ext cx="620106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/>
          <p:cNvCxnSpPr/>
          <p:nvPr/>
        </p:nvCxnSpPr>
        <p:spPr>
          <a:xfrm>
            <a:off x="5131238" y="5375739"/>
            <a:ext cx="692913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277024" y="4763422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24" y="4763422"/>
                <a:ext cx="610616" cy="58477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1271827" y="4763421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827" y="4763421"/>
                <a:ext cx="620106" cy="58477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5226385" y="4763419"/>
                <a:ext cx="62010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385" y="4763419"/>
                <a:ext cx="620105" cy="58477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6269283" y="5375738"/>
            <a:ext cx="5942444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6269283" y="5375738"/>
            <a:ext cx="5466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224040" y="5375738"/>
            <a:ext cx="67106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9113489" y="5375738"/>
            <a:ext cx="481591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9112956" y="4763420"/>
                <a:ext cx="7499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956" y="4763420"/>
                <a:ext cx="749949" cy="58477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/>
          <p:cNvCxnSpPr/>
          <p:nvPr/>
        </p:nvCxnSpPr>
        <p:spPr>
          <a:xfrm>
            <a:off x="11265163" y="5384441"/>
            <a:ext cx="678324" cy="0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279659" y="4763421"/>
                <a:ext cx="74045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659" y="4763421"/>
                <a:ext cx="740459" cy="58477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7274462" y="4763420"/>
                <a:ext cx="7499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462" y="4763420"/>
                <a:ext cx="749949" cy="58477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11265163" y="4763419"/>
                <a:ext cx="7499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5163" y="4763419"/>
                <a:ext cx="749949" cy="58477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/>
          <p:cNvGrpSpPr/>
          <p:nvPr/>
        </p:nvGrpSpPr>
        <p:grpSpPr>
          <a:xfrm>
            <a:off x="2918185" y="5296751"/>
            <a:ext cx="704872" cy="674133"/>
            <a:chOff x="676437" y="3263442"/>
            <a:chExt cx="704872" cy="674133"/>
          </a:xfrm>
        </p:grpSpPr>
        <p:sp>
          <p:nvSpPr>
            <p:cNvPr id="63" name="Oval 62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4" name="Rectangle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/>
          <p:cNvGrpSpPr/>
          <p:nvPr/>
        </p:nvGrpSpPr>
        <p:grpSpPr>
          <a:xfrm>
            <a:off x="1415081" y="5295554"/>
            <a:ext cx="704872" cy="674133"/>
            <a:chOff x="676437" y="3263442"/>
            <a:chExt cx="704872" cy="674133"/>
          </a:xfrm>
        </p:grpSpPr>
        <p:sp>
          <p:nvSpPr>
            <p:cNvPr id="66" name="Oval 6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" name="Oval 68"/>
          <p:cNvSpPr/>
          <p:nvPr/>
        </p:nvSpPr>
        <p:spPr>
          <a:xfrm>
            <a:off x="5041244" y="5300222"/>
            <a:ext cx="178716" cy="178716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angle 69"/>
              <p:cNvSpPr/>
              <p:nvPr/>
            </p:nvSpPr>
            <p:spPr>
              <a:xfrm>
                <a:off x="4847637" y="5389580"/>
                <a:ext cx="70185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637" y="5389580"/>
                <a:ext cx="701859" cy="5847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/>
          <p:cNvSpPr/>
          <p:nvPr/>
        </p:nvSpPr>
        <p:spPr>
          <a:xfrm>
            <a:off x="7807607" y="5295083"/>
            <a:ext cx="178716" cy="178716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Rectangle 72"/>
              <p:cNvSpPr/>
              <p:nvPr/>
            </p:nvSpPr>
            <p:spPr>
              <a:xfrm>
                <a:off x="7614000" y="5384441"/>
                <a:ext cx="8236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000" y="5384441"/>
                <a:ext cx="823687" cy="5847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6435939" y="5295083"/>
            <a:ext cx="178716" cy="178716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 75"/>
              <p:cNvSpPr/>
              <p:nvPr/>
            </p:nvSpPr>
            <p:spPr>
              <a:xfrm>
                <a:off x="6242332" y="5384441"/>
                <a:ext cx="81419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332" y="5384441"/>
                <a:ext cx="814197" cy="58477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Oval 77"/>
          <p:cNvSpPr/>
          <p:nvPr/>
        </p:nvSpPr>
        <p:spPr>
          <a:xfrm>
            <a:off x="9220055" y="5301644"/>
            <a:ext cx="178716" cy="178716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Rectangle 78"/>
              <p:cNvSpPr/>
              <p:nvPr/>
            </p:nvSpPr>
            <p:spPr>
              <a:xfrm>
                <a:off x="9026448" y="5391002"/>
                <a:ext cx="8236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448" y="5391002"/>
                <a:ext cx="823687" cy="5847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Group 79"/>
          <p:cNvGrpSpPr/>
          <p:nvPr/>
        </p:nvGrpSpPr>
        <p:grpSpPr>
          <a:xfrm>
            <a:off x="10990071" y="5302602"/>
            <a:ext cx="823687" cy="674133"/>
            <a:chOff x="676437" y="3263442"/>
            <a:chExt cx="823687" cy="674133"/>
          </a:xfrm>
        </p:grpSpPr>
        <p:sp>
          <p:nvSpPr>
            <p:cNvPr id="81" name="Oval 80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/>
                <p:cNvSpPr/>
                <p:nvPr/>
              </p:nvSpPr>
              <p:spPr>
                <a:xfrm>
                  <a:off x="676437" y="3352800"/>
                  <a:ext cx="82368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2" name="Rectangle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823687" cy="584775"/>
                </a:xfrm>
                <a:prstGeom prst="rect">
                  <a:avLst/>
                </a:prstGeom>
                <a:blipFill rotWithShape="0"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3" name="Flowchart: Collate 82"/>
          <p:cNvSpPr/>
          <p:nvPr/>
        </p:nvSpPr>
        <p:spPr>
          <a:xfrm>
            <a:off x="5435434" y="2693875"/>
            <a:ext cx="128424" cy="148181"/>
          </a:xfrm>
          <a:prstGeom prst="flowChartCollate">
            <a:avLst/>
          </a:prstGeom>
          <a:solidFill>
            <a:srgbClr val="FF0000"/>
          </a:solidFill>
          <a:ln w="19050">
            <a:solidFill>
              <a:srgbClr val="FFFF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  <a:outerShdw blurRad="76200" dist="25400" dir="5400000" algn="ctr" rotWithShape="0">
              <a:srgbClr val="000000">
                <a:alpha val="60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8" name="Group 107"/>
          <p:cNvGrpSpPr/>
          <p:nvPr/>
        </p:nvGrpSpPr>
        <p:grpSpPr>
          <a:xfrm>
            <a:off x="1967981" y="2929993"/>
            <a:ext cx="701859" cy="584775"/>
            <a:chOff x="808190" y="3263360"/>
            <a:chExt cx="701859" cy="584775"/>
          </a:xfrm>
        </p:grpSpPr>
        <p:sp>
          <p:nvSpPr>
            <p:cNvPr id="109" name="Oval 10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Rectangle 109"/>
                <p:cNvSpPr/>
                <p:nvPr/>
              </p:nvSpPr>
              <p:spPr>
                <a:xfrm>
                  <a:off x="808190" y="3263360"/>
                  <a:ext cx="70185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0" name="Rectangle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90" y="3263360"/>
                  <a:ext cx="701859" cy="584775"/>
                </a:xfrm>
                <a:prstGeom prst="rect">
                  <a:avLst/>
                </a:prstGeom>
                <a:blipFill rotWithShape="0"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Group 110"/>
          <p:cNvGrpSpPr/>
          <p:nvPr/>
        </p:nvGrpSpPr>
        <p:grpSpPr>
          <a:xfrm>
            <a:off x="4361449" y="2715138"/>
            <a:ext cx="908113" cy="584775"/>
            <a:chOff x="870044" y="3155778"/>
            <a:chExt cx="908113" cy="584775"/>
          </a:xfrm>
        </p:grpSpPr>
        <p:sp>
          <p:nvSpPr>
            <p:cNvPr id="112" name="Oval 11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Rectangle 112"/>
                <p:cNvSpPr/>
                <p:nvPr/>
              </p:nvSpPr>
              <p:spPr>
                <a:xfrm>
                  <a:off x="954470" y="3155778"/>
                  <a:ext cx="82368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3" name="Rectangle 1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470" y="3155778"/>
                  <a:ext cx="823687" cy="584775"/>
                </a:xfrm>
                <a:prstGeom prst="rect">
                  <a:avLst/>
                </a:prstGeom>
                <a:blipFill rotWithShape="0"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/>
          <p:cNvGrpSpPr/>
          <p:nvPr/>
        </p:nvGrpSpPr>
        <p:grpSpPr>
          <a:xfrm>
            <a:off x="2895462" y="2001051"/>
            <a:ext cx="814197" cy="674133"/>
            <a:chOff x="676437" y="3263442"/>
            <a:chExt cx="814197" cy="674133"/>
          </a:xfrm>
        </p:grpSpPr>
        <p:sp>
          <p:nvSpPr>
            <p:cNvPr id="115" name="Oval 11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tangle 115"/>
                <p:cNvSpPr/>
                <p:nvPr/>
              </p:nvSpPr>
              <p:spPr>
                <a:xfrm>
                  <a:off x="676437" y="3352800"/>
                  <a:ext cx="81419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6" name="Rectangle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814197" cy="584775"/>
                </a:xfrm>
                <a:prstGeom prst="rect">
                  <a:avLst/>
                </a:prstGeom>
                <a:blipFill rotWithShape="0"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/>
          <p:cNvGrpSpPr/>
          <p:nvPr/>
        </p:nvGrpSpPr>
        <p:grpSpPr>
          <a:xfrm>
            <a:off x="3581159" y="3556007"/>
            <a:ext cx="823687" cy="759984"/>
            <a:chOff x="454361" y="2682174"/>
            <a:chExt cx="823687" cy="759984"/>
          </a:xfrm>
        </p:grpSpPr>
        <p:sp>
          <p:nvSpPr>
            <p:cNvPr id="118" name="Oval 117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Rectangle 118"/>
                <p:cNvSpPr/>
                <p:nvPr/>
              </p:nvSpPr>
              <p:spPr>
                <a:xfrm>
                  <a:off x="454361" y="2682174"/>
                  <a:ext cx="82368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9" name="Rectangle 1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361" y="2682174"/>
                  <a:ext cx="823687" cy="584775"/>
                </a:xfrm>
                <a:prstGeom prst="rect">
                  <a:avLst/>
                </a:prstGeom>
                <a:blipFill rotWithShape="0"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1" name="Flowchart: Collate 120"/>
          <p:cNvSpPr/>
          <p:nvPr/>
        </p:nvSpPr>
        <p:spPr>
          <a:xfrm rot="17135928">
            <a:off x="2039617" y="2967032"/>
            <a:ext cx="128424" cy="148181"/>
          </a:xfrm>
          <a:prstGeom prst="flowChartCollate">
            <a:avLst/>
          </a:prstGeom>
          <a:solidFill>
            <a:srgbClr val="FF0000"/>
          </a:solidFill>
          <a:ln w="19050">
            <a:solidFill>
              <a:srgbClr val="FFFF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  <a:outerShdw blurRad="76200" dist="25400" dir="5400000" algn="ctr" rotWithShape="0">
              <a:srgbClr val="000000">
                <a:alpha val="60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-10223" y="5301644"/>
            <a:ext cx="695382" cy="674133"/>
            <a:chOff x="676437" y="3263442"/>
            <a:chExt cx="695382" cy="674133"/>
          </a:xfrm>
        </p:grpSpPr>
        <p:sp>
          <p:nvSpPr>
            <p:cNvPr id="60" name="Oval 59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5644818" y="3389717"/>
                <a:ext cx="5652631" cy="9910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4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4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4000" dirty="0">
                    <a:solidFill>
                      <a:srgbClr val="C0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initially</a:t>
                </a:r>
                <a:r>
                  <a:rPr lang="en-US" sz="4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818" y="3389717"/>
                <a:ext cx="5652631" cy="991041"/>
              </a:xfrm>
              <a:prstGeom prst="rect">
                <a:avLst/>
              </a:prstGeom>
              <a:blipFill>
                <a:blip r:embed="rId36"/>
                <a:stretch>
                  <a:fillRect l="-3883" r="-3776" b="-9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09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8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8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9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9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5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8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1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6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5" grpId="0"/>
      <p:bldP spid="16" grpId="0"/>
      <p:bldP spid="17" grpId="0"/>
      <p:bldP spid="18" grpId="0"/>
      <p:bldP spid="34" grpId="0"/>
      <p:bldP spid="35" grpId="0"/>
      <p:bldP spid="36" grpId="0"/>
      <p:bldP spid="37" grpId="0"/>
      <p:bldP spid="38" grpId="0"/>
      <p:bldP spid="43" grpId="0"/>
      <p:bldP spid="45" grpId="0"/>
      <p:bldP spid="46" grpId="0"/>
      <p:bldP spid="47" grpId="0"/>
      <p:bldP spid="52" grpId="0"/>
      <p:bldP spid="54" grpId="0"/>
      <p:bldP spid="55" grpId="0"/>
      <p:bldP spid="56" grpId="0"/>
      <p:bldP spid="69" grpId="0" animBg="1"/>
      <p:bldP spid="70" grpId="0"/>
      <p:bldP spid="72" grpId="0" animBg="1"/>
      <p:bldP spid="73" grpId="0"/>
      <p:bldP spid="75" grpId="0" animBg="1"/>
      <p:bldP spid="76" grpId="0"/>
      <p:bldP spid="78" grpId="0" animBg="1"/>
      <p:bldP spid="79" grpId="0"/>
      <p:bldP spid="83" grpId="0" animBg="1"/>
      <p:bldP spid="121" grpId="0" animBg="1"/>
      <p:bldP spid="8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90693" y="2709851"/>
            <a:ext cx="3906460" cy="1499616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42424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Set the Initial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7538491" y="754022"/>
            <a:ext cx="3024777" cy="3024776"/>
            <a:chOff x="5387545" y="2388972"/>
            <a:chExt cx="4053019" cy="4053018"/>
          </a:xfrm>
        </p:grpSpPr>
        <p:grpSp>
          <p:nvGrpSpPr>
            <p:cNvPr id="11" name="Group 10"/>
            <p:cNvGrpSpPr/>
            <p:nvPr/>
          </p:nvGrpSpPr>
          <p:grpSpPr>
            <a:xfrm>
              <a:off x="5387545" y="2388973"/>
              <a:ext cx="4053019" cy="4053017"/>
              <a:chOff x="5387545" y="2388973"/>
              <a:chExt cx="4053019" cy="4053017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5387546" y="2388973"/>
                <a:ext cx="4053016" cy="405301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Arc 6"/>
              <p:cNvSpPr/>
              <p:nvPr/>
            </p:nvSpPr>
            <p:spPr>
              <a:xfrm rot="17093866">
                <a:off x="5387546" y="2388973"/>
                <a:ext cx="4053016" cy="4053017"/>
              </a:xfrm>
              <a:prstGeom prst="arc">
                <a:avLst>
                  <a:gd name="adj1" fmla="val 16101339"/>
                  <a:gd name="adj2" fmla="val 2210260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" name="Arc 9"/>
              <p:cNvSpPr/>
              <p:nvPr/>
            </p:nvSpPr>
            <p:spPr>
              <a:xfrm rot="4459269">
                <a:off x="5387548" y="2388973"/>
                <a:ext cx="4053016" cy="4053016"/>
              </a:xfrm>
              <a:prstGeom prst="arc">
                <a:avLst>
                  <a:gd name="adj1" fmla="val 15655265"/>
                  <a:gd name="adj2" fmla="val 21288942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8" name="Arc 7"/>
            <p:cNvSpPr/>
            <p:nvPr/>
          </p:nvSpPr>
          <p:spPr>
            <a:xfrm rot="12494633">
              <a:off x="5387547" y="2388972"/>
              <a:ext cx="4053016" cy="4053016"/>
            </a:xfrm>
            <a:prstGeom prst="arc">
              <a:avLst>
                <a:gd name="adj1" fmla="val 14110904"/>
                <a:gd name="adj2" fmla="val 19749639"/>
              </a:avLst>
            </a:prstGeom>
            <a:ln w="38100">
              <a:headEnd type="diamond" w="med" len="med"/>
              <a:tailEnd type="diamond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532938" y="3070631"/>
                <a:ext cx="46278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938" y="3070631"/>
                <a:ext cx="46278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516946" y="775740"/>
                <a:ext cx="4557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946" y="775740"/>
                <a:ext cx="45570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0449526" y="2659905"/>
                <a:ext cx="46278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9526" y="2659905"/>
                <a:ext cx="46278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0" y="4846798"/>
            <a:ext cx="12192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21394" y="4845944"/>
            <a:ext cx="1473148" cy="854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378328" y="4840802"/>
            <a:ext cx="1604991" cy="5142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592240" y="4834987"/>
            <a:ext cx="1261122" cy="11811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-79209" y="4205323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209" y="4205323"/>
                <a:ext cx="550151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4976862" y="4182315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862" y="4182315"/>
                <a:ext cx="62010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842087" y="4210688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87" y="4210688"/>
                <a:ext cx="61061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851880" y="4190422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880" y="4190422"/>
                <a:ext cx="620106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127605" y="4763889"/>
            <a:ext cx="695382" cy="674133"/>
            <a:chOff x="676437" y="3263442"/>
            <a:chExt cx="695382" cy="674133"/>
          </a:xfrm>
        </p:grpSpPr>
        <p:sp>
          <p:nvSpPr>
            <p:cNvPr id="29" name="Oval 2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/>
          <p:cNvGrpSpPr/>
          <p:nvPr/>
        </p:nvGrpSpPr>
        <p:grpSpPr>
          <a:xfrm>
            <a:off x="4846442" y="4751727"/>
            <a:ext cx="704872" cy="674133"/>
            <a:chOff x="676437" y="3263442"/>
            <a:chExt cx="704872" cy="674133"/>
          </a:xfrm>
        </p:grpSpPr>
        <p:sp>
          <p:nvSpPr>
            <p:cNvPr id="32" name="Oval 3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4" name="Rectangle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2480267" y="4765800"/>
            <a:ext cx="704872" cy="674133"/>
            <a:chOff x="676437" y="3263442"/>
            <a:chExt cx="704872" cy="674133"/>
          </a:xfrm>
        </p:grpSpPr>
        <p:sp>
          <p:nvSpPr>
            <p:cNvPr id="35" name="Oval 3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/>
          <p:cNvGrpSpPr/>
          <p:nvPr/>
        </p:nvGrpSpPr>
        <p:grpSpPr>
          <a:xfrm>
            <a:off x="7521590" y="1718000"/>
            <a:ext cx="599167" cy="436419"/>
            <a:chOff x="870044" y="3068853"/>
            <a:chExt cx="802848" cy="584775"/>
          </a:xfrm>
        </p:grpSpPr>
        <p:sp>
          <p:nvSpPr>
            <p:cNvPr id="43" name="Oval 42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977510" y="3068853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510" y="3068853"/>
                  <a:ext cx="695382" cy="584775"/>
                </a:xfrm>
                <a:prstGeom prst="rect">
                  <a:avLst/>
                </a:prstGeom>
                <a:blipFill>
                  <a:blip r:embed="rId23"/>
                  <a:stretch>
                    <a:fillRect b="-197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/>
          <p:cNvGrpSpPr/>
          <p:nvPr/>
        </p:nvGrpSpPr>
        <p:grpSpPr>
          <a:xfrm>
            <a:off x="8095026" y="2910101"/>
            <a:ext cx="615043" cy="619445"/>
            <a:chOff x="870044" y="2612139"/>
            <a:chExt cx="824120" cy="830019"/>
          </a:xfrm>
        </p:grpSpPr>
        <p:sp>
          <p:nvSpPr>
            <p:cNvPr id="46" name="Oval 4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/>
                <p:cNvSpPr/>
                <p:nvPr/>
              </p:nvSpPr>
              <p:spPr>
                <a:xfrm>
                  <a:off x="989291" y="2612139"/>
                  <a:ext cx="70487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7" name="Rectangle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291" y="2612139"/>
                  <a:ext cx="704873" cy="584775"/>
                </a:xfrm>
                <a:prstGeom prst="rect">
                  <a:avLst/>
                </a:prstGeom>
                <a:blipFill>
                  <a:blip r:embed="rId24"/>
                  <a:stretch>
                    <a:fillRect b="-19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/>
          <p:cNvGrpSpPr/>
          <p:nvPr/>
        </p:nvGrpSpPr>
        <p:grpSpPr>
          <a:xfrm>
            <a:off x="10028684" y="1843629"/>
            <a:ext cx="583715" cy="728202"/>
            <a:chOff x="266618" y="2466412"/>
            <a:chExt cx="782142" cy="975746"/>
          </a:xfrm>
        </p:grpSpPr>
        <p:sp>
          <p:nvSpPr>
            <p:cNvPr id="49" name="Oval 4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266618" y="2466412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618" y="2466412"/>
                  <a:ext cx="704872" cy="584775"/>
                </a:xfrm>
                <a:prstGeom prst="rect">
                  <a:avLst/>
                </a:prstGeom>
                <a:blipFill>
                  <a:blip r:embed="rId25"/>
                  <a:stretch>
                    <a:fillRect b="-180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688833" y="2218623"/>
                <a:ext cx="5652631" cy="9910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4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4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4000" dirty="0">
                    <a:solidFill>
                      <a:srgbClr val="C0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initially</a:t>
                </a:r>
                <a:r>
                  <a:rPr lang="en-US" sz="4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33" y="2218623"/>
                <a:ext cx="5652631" cy="991041"/>
              </a:xfrm>
              <a:prstGeom prst="rect">
                <a:avLst/>
              </a:prstGeom>
              <a:blipFill>
                <a:blip r:embed="rId26"/>
                <a:stretch>
                  <a:fillRect l="-3883" r="-3776" b="-9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6442496" y="4852393"/>
            <a:ext cx="1473148" cy="854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399430" y="4847251"/>
            <a:ext cx="1604991" cy="5142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0613342" y="4841436"/>
            <a:ext cx="1261122" cy="11811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6913654" y="4168980"/>
                <a:ext cx="61061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654" y="4168980"/>
                <a:ext cx="610615" cy="58477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9001534" y="4154447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534" y="4154447"/>
                <a:ext cx="620106" cy="58477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/>
          <p:cNvGrpSpPr/>
          <p:nvPr/>
        </p:nvGrpSpPr>
        <p:grpSpPr>
          <a:xfrm>
            <a:off x="6922474" y="4757734"/>
            <a:ext cx="695383" cy="674133"/>
            <a:chOff x="676437" y="3263442"/>
            <a:chExt cx="695383" cy="674133"/>
          </a:xfrm>
        </p:grpSpPr>
        <p:sp>
          <p:nvSpPr>
            <p:cNvPr id="59" name="Oval 5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/>
                <p:cNvSpPr/>
                <p:nvPr/>
              </p:nvSpPr>
              <p:spPr>
                <a:xfrm>
                  <a:off x="676437" y="3352800"/>
                  <a:ext cx="69538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0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3" cy="58477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Oval 61"/>
          <p:cNvSpPr/>
          <p:nvPr/>
        </p:nvSpPr>
        <p:spPr>
          <a:xfrm>
            <a:off x="11786786" y="4757734"/>
            <a:ext cx="178716" cy="178716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9173745" y="4764183"/>
            <a:ext cx="178716" cy="178716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Left Brace 68"/>
          <p:cNvSpPr/>
          <p:nvPr/>
        </p:nvSpPr>
        <p:spPr>
          <a:xfrm rot="16200000">
            <a:off x="1431869" y="4404561"/>
            <a:ext cx="324414" cy="2367012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218262" y="5673649"/>
                <a:ext cx="3000960" cy="10444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62" y="5673649"/>
                <a:ext cx="3000960" cy="104445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Left Brace 70"/>
          <p:cNvSpPr/>
          <p:nvPr/>
        </p:nvSpPr>
        <p:spPr>
          <a:xfrm rot="16200000" flipH="1">
            <a:off x="3277996" y="1040825"/>
            <a:ext cx="277517" cy="6051483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2159194" y="3244680"/>
                <a:ext cx="249170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3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194" y="3244680"/>
                <a:ext cx="2491708" cy="64633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10921356" y="4197696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1356" y="4197696"/>
                <a:ext cx="620106" cy="58477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8936213" y="4912996"/>
                <a:ext cx="7048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213" y="4912996"/>
                <a:ext cx="704872" cy="584775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11541462" y="4890047"/>
                <a:ext cx="7048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1462" y="4890047"/>
                <a:ext cx="704872" cy="58477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Left Brace 79"/>
          <p:cNvSpPr/>
          <p:nvPr/>
        </p:nvSpPr>
        <p:spPr>
          <a:xfrm rot="20295215">
            <a:off x="7200490" y="2040157"/>
            <a:ext cx="324414" cy="1812677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4813887" y="2701962"/>
                <a:ext cx="3000960" cy="9253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887" y="2701962"/>
                <a:ext cx="3000960" cy="92538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63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3" grpId="0"/>
      <p:bldP spid="24" grpId="0"/>
      <p:bldP spid="25" grpId="0"/>
      <p:bldP spid="26" grpId="0"/>
      <p:bldP spid="51" grpId="0"/>
      <p:bldP spid="56" grpId="0"/>
      <p:bldP spid="57" grpId="0"/>
      <p:bldP spid="62" grpId="0" animBg="1"/>
      <p:bldP spid="65" grpId="0" animBg="1"/>
      <p:bldP spid="69" grpId="0" animBg="1"/>
      <p:bldP spid="70" grpId="0"/>
      <p:bldP spid="71" grpId="0" animBg="1"/>
      <p:bldP spid="71" grpId="1" animBg="1"/>
      <p:bldP spid="72" grpId="0"/>
      <p:bldP spid="72" grpId="1"/>
      <p:bldP spid="77" grpId="0"/>
      <p:bldP spid="78" grpId="0"/>
      <p:bldP spid="79" grpId="0"/>
      <p:bldP spid="80" grpId="0" animBg="1"/>
      <p:bldP spid="80" grpId="1" animBg="1"/>
      <p:bldP spid="81" grpId="0"/>
      <p:bldP spid="81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5400" dirty="0">
                    <a:solidFill>
                      <a:srgbClr val="00206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5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5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5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5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r>
                          <a:rPr lang="en-US" sz="5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323" b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7538491" y="754022"/>
            <a:ext cx="3024777" cy="3024776"/>
            <a:chOff x="5387545" y="2388972"/>
            <a:chExt cx="4053019" cy="4053018"/>
          </a:xfrm>
        </p:grpSpPr>
        <p:grpSp>
          <p:nvGrpSpPr>
            <p:cNvPr id="11" name="Group 10"/>
            <p:cNvGrpSpPr/>
            <p:nvPr/>
          </p:nvGrpSpPr>
          <p:grpSpPr>
            <a:xfrm>
              <a:off x="5387545" y="2388973"/>
              <a:ext cx="4053019" cy="4053017"/>
              <a:chOff x="5387545" y="2388973"/>
              <a:chExt cx="4053019" cy="4053017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5387546" y="2388973"/>
                <a:ext cx="4053016" cy="405301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Arc 6"/>
              <p:cNvSpPr/>
              <p:nvPr/>
            </p:nvSpPr>
            <p:spPr>
              <a:xfrm rot="17093866">
                <a:off x="5387546" y="2388973"/>
                <a:ext cx="4053016" cy="4053017"/>
              </a:xfrm>
              <a:prstGeom prst="arc">
                <a:avLst>
                  <a:gd name="adj1" fmla="val 16101339"/>
                  <a:gd name="adj2" fmla="val 2210260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" name="Arc 9"/>
              <p:cNvSpPr/>
              <p:nvPr/>
            </p:nvSpPr>
            <p:spPr>
              <a:xfrm rot="4459269">
                <a:off x="5387548" y="2388973"/>
                <a:ext cx="4053016" cy="4053016"/>
              </a:xfrm>
              <a:prstGeom prst="arc">
                <a:avLst>
                  <a:gd name="adj1" fmla="val 15655265"/>
                  <a:gd name="adj2" fmla="val 21288942"/>
                </a:avLst>
              </a:prstGeom>
              <a:ln w="38100">
                <a:headEnd type="diamond" w="med" len="med"/>
                <a:tailEnd type="diamond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8" name="Arc 7"/>
            <p:cNvSpPr/>
            <p:nvPr/>
          </p:nvSpPr>
          <p:spPr>
            <a:xfrm rot="12494633">
              <a:off x="5387547" y="2388972"/>
              <a:ext cx="4053016" cy="4053016"/>
            </a:xfrm>
            <a:prstGeom prst="arc">
              <a:avLst>
                <a:gd name="adj1" fmla="val 14110904"/>
                <a:gd name="adj2" fmla="val 19749639"/>
              </a:avLst>
            </a:prstGeom>
            <a:ln w="38100">
              <a:headEnd type="diamond" w="med" len="med"/>
              <a:tailEnd type="diamond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532938" y="3070631"/>
                <a:ext cx="46278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938" y="3070631"/>
                <a:ext cx="46278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516946" y="775740"/>
                <a:ext cx="4557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946" y="775740"/>
                <a:ext cx="45570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0449526" y="2659905"/>
                <a:ext cx="46278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9526" y="2659905"/>
                <a:ext cx="46278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0" y="4846798"/>
            <a:ext cx="12192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21394" y="4845944"/>
            <a:ext cx="1473148" cy="854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378328" y="4840802"/>
            <a:ext cx="1604991" cy="5142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592240" y="4834987"/>
            <a:ext cx="1261122" cy="11811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-79209" y="4205323"/>
                <a:ext cx="5501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209" y="4205323"/>
                <a:ext cx="550151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256322" y="4173949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322" y="4173949"/>
                <a:ext cx="62010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91013" y="4172959"/>
                <a:ext cx="6106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13" y="4172959"/>
                <a:ext cx="61061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540394" y="4183581"/>
                <a:ext cx="62010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94" y="4183581"/>
                <a:ext cx="620106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127605" y="4763889"/>
            <a:ext cx="695382" cy="674133"/>
            <a:chOff x="676437" y="3263442"/>
            <a:chExt cx="695382" cy="674133"/>
          </a:xfrm>
        </p:grpSpPr>
        <p:sp>
          <p:nvSpPr>
            <p:cNvPr id="29" name="Oval 2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695382" cy="584775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/>
          <p:cNvGrpSpPr/>
          <p:nvPr/>
        </p:nvGrpSpPr>
        <p:grpSpPr>
          <a:xfrm>
            <a:off x="4325558" y="4751727"/>
            <a:ext cx="704872" cy="674133"/>
            <a:chOff x="676437" y="3263442"/>
            <a:chExt cx="704872" cy="674133"/>
          </a:xfrm>
        </p:grpSpPr>
        <p:sp>
          <p:nvSpPr>
            <p:cNvPr id="32" name="Oval 3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4" name="Rectangle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2094976" y="4758724"/>
            <a:ext cx="704872" cy="674133"/>
            <a:chOff x="676437" y="3263442"/>
            <a:chExt cx="704872" cy="674133"/>
          </a:xfrm>
        </p:grpSpPr>
        <p:sp>
          <p:nvSpPr>
            <p:cNvPr id="35" name="Oval 3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704872" cy="584775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/>
          <p:cNvGrpSpPr/>
          <p:nvPr/>
        </p:nvGrpSpPr>
        <p:grpSpPr>
          <a:xfrm>
            <a:off x="7521590" y="1718000"/>
            <a:ext cx="599167" cy="436419"/>
            <a:chOff x="870044" y="3068853"/>
            <a:chExt cx="802848" cy="584775"/>
          </a:xfrm>
        </p:grpSpPr>
        <p:sp>
          <p:nvSpPr>
            <p:cNvPr id="43" name="Oval 42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977510" y="3068853"/>
                  <a:ext cx="69538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510" y="3068853"/>
                  <a:ext cx="695382" cy="584775"/>
                </a:xfrm>
                <a:prstGeom prst="rect">
                  <a:avLst/>
                </a:prstGeom>
                <a:blipFill>
                  <a:blip r:embed="rId23"/>
                  <a:stretch>
                    <a:fillRect b="-197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/>
          <p:cNvGrpSpPr/>
          <p:nvPr/>
        </p:nvGrpSpPr>
        <p:grpSpPr>
          <a:xfrm>
            <a:off x="8900031" y="3092438"/>
            <a:ext cx="526049" cy="743339"/>
            <a:chOff x="517607" y="2446129"/>
            <a:chExt cx="704873" cy="996029"/>
          </a:xfrm>
        </p:grpSpPr>
        <p:sp>
          <p:nvSpPr>
            <p:cNvPr id="46" name="Oval 45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/>
                <p:cNvSpPr/>
                <p:nvPr/>
              </p:nvSpPr>
              <p:spPr>
                <a:xfrm>
                  <a:off x="517607" y="2446129"/>
                  <a:ext cx="70487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7" name="Rectangle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607" y="2446129"/>
                  <a:ext cx="704873" cy="584775"/>
                </a:xfrm>
                <a:prstGeom prst="rect">
                  <a:avLst/>
                </a:prstGeom>
                <a:blipFill>
                  <a:blip r:embed="rId24"/>
                  <a:stretch>
                    <a:fillRect b="-19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/>
          <p:cNvGrpSpPr/>
          <p:nvPr/>
        </p:nvGrpSpPr>
        <p:grpSpPr>
          <a:xfrm>
            <a:off x="9863455" y="1442962"/>
            <a:ext cx="594415" cy="436419"/>
            <a:chOff x="252281" y="3098917"/>
            <a:chExt cx="796479" cy="584775"/>
          </a:xfrm>
        </p:grpSpPr>
        <p:sp>
          <p:nvSpPr>
            <p:cNvPr id="49" name="Oval 4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252281" y="3098917"/>
                  <a:ext cx="70487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281" y="3098917"/>
                  <a:ext cx="704872" cy="584775"/>
                </a:xfrm>
                <a:prstGeom prst="rect">
                  <a:avLst/>
                </a:prstGeom>
                <a:blipFill>
                  <a:blip r:embed="rId25"/>
                  <a:stretch>
                    <a:fillRect b="-197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Straight Connector 51"/>
          <p:cNvCxnSpPr/>
          <p:nvPr/>
        </p:nvCxnSpPr>
        <p:spPr>
          <a:xfrm flipV="1">
            <a:off x="6442496" y="4852393"/>
            <a:ext cx="1473148" cy="854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399430" y="4847251"/>
            <a:ext cx="1604991" cy="5142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0613342" y="4841436"/>
            <a:ext cx="1261122" cy="11811"/>
          </a:xfrm>
          <a:prstGeom prst="line">
            <a:avLst/>
          </a:prstGeom>
          <a:ln w="50800">
            <a:headEnd type="diamond" w="lg" len="med"/>
            <a:tailEnd type="diamond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11277424" y="4180398"/>
                <a:ext cx="7499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424" y="4180398"/>
                <a:ext cx="749949" cy="5847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6412115" y="4179408"/>
                <a:ext cx="74045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115" y="4179408"/>
                <a:ext cx="740459" cy="58477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8561496" y="4190030"/>
                <a:ext cx="7499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496" y="4190030"/>
                <a:ext cx="749949" cy="58477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/>
          <p:cNvGrpSpPr/>
          <p:nvPr/>
        </p:nvGrpSpPr>
        <p:grpSpPr>
          <a:xfrm>
            <a:off x="6195454" y="4766183"/>
            <a:ext cx="814197" cy="674133"/>
            <a:chOff x="676437" y="3263442"/>
            <a:chExt cx="814197" cy="674133"/>
          </a:xfrm>
        </p:grpSpPr>
        <p:sp>
          <p:nvSpPr>
            <p:cNvPr id="59" name="Oval 58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/>
                <p:cNvSpPr/>
                <p:nvPr/>
              </p:nvSpPr>
              <p:spPr>
                <a:xfrm>
                  <a:off x="676437" y="3352800"/>
                  <a:ext cx="81419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0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814197" cy="58477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Group 60"/>
          <p:cNvGrpSpPr/>
          <p:nvPr/>
        </p:nvGrpSpPr>
        <p:grpSpPr>
          <a:xfrm>
            <a:off x="10131121" y="4747400"/>
            <a:ext cx="823687" cy="744207"/>
            <a:chOff x="459059" y="3263442"/>
            <a:chExt cx="823687" cy="744207"/>
          </a:xfrm>
        </p:grpSpPr>
        <p:sp>
          <p:nvSpPr>
            <p:cNvPr id="62" name="Oval 61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/>
                <p:cNvSpPr/>
                <p:nvPr/>
              </p:nvSpPr>
              <p:spPr>
                <a:xfrm>
                  <a:off x="459059" y="3422874"/>
                  <a:ext cx="82368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3" name="Rectangle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59" y="3422874"/>
                  <a:ext cx="823687" cy="58477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Group 63"/>
          <p:cNvGrpSpPr/>
          <p:nvPr/>
        </p:nvGrpSpPr>
        <p:grpSpPr>
          <a:xfrm>
            <a:off x="8128887" y="4763795"/>
            <a:ext cx="823687" cy="674133"/>
            <a:chOff x="676437" y="3263442"/>
            <a:chExt cx="823687" cy="674133"/>
          </a:xfrm>
        </p:grpSpPr>
        <p:sp>
          <p:nvSpPr>
            <p:cNvPr id="65" name="Oval 64"/>
            <p:cNvSpPr/>
            <p:nvPr/>
          </p:nvSpPr>
          <p:spPr>
            <a:xfrm>
              <a:off x="870044" y="3263442"/>
              <a:ext cx="178716" cy="178716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/>
                <p:cNvSpPr/>
                <p:nvPr/>
              </p:nvSpPr>
              <p:spPr>
                <a:xfrm>
                  <a:off x="676437" y="3352800"/>
                  <a:ext cx="82368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6" name="Rectangle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37" y="3352800"/>
                  <a:ext cx="823687" cy="58477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" name="Left Brace 68"/>
          <p:cNvSpPr/>
          <p:nvPr/>
        </p:nvSpPr>
        <p:spPr>
          <a:xfrm rot="16200000">
            <a:off x="1232242" y="4604188"/>
            <a:ext cx="324414" cy="1967758"/>
          </a:xfrm>
          <a:prstGeom prst="leftBrace">
            <a:avLst>
              <a:gd name="adj1" fmla="val 54061"/>
              <a:gd name="adj2" fmla="val 50000"/>
            </a:avLst>
          </a:prstGeom>
          <a:ln w="508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-201112" y="5711302"/>
                <a:ext cx="3000960" cy="10444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n-U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1112" y="5711302"/>
                <a:ext cx="3000960" cy="1044453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3695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fallOve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3" grpId="0"/>
      <p:bldP spid="24" grpId="0"/>
      <p:bldP spid="25" grpId="0"/>
      <p:bldP spid="26" grpId="0"/>
      <p:bldP spid="55" grpId="0"/>
      <p:bldP spid="56" grpId="0"/>
      <p:bldP spid="57" grpId="0"/>
      <p:bldP spid="69" grpId="0" animBg="1"/>
      <p:bldP spid="7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Custom 1">
      <a:dk1>
        <a:srgbClr val="00206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20589</TotalTime>
  <Words>416</Words>
  <Application>Microsoft Office PowerPoint</Application>
  <PresentationFormat>Widescreen</PresentationFormat>
  <Paragraphs>341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Aparajita</vt:lpstr>
      <vt:lpstr>Arial</vt:lpstr>
      <vt:lpstr>Cambria Math</vt:lpstr>
      <vt:lpstr>Monotype Corsiva</vt:lpstr>
      <vt:lpstr>Times New Roman</vt:lpstr>
      <vt:lpstr>Tw Cen MT</vt:lpstr>
      <vt:lpstr>Tw Cen MT Condensed</vt:lpstr>
      <vt:lpstr>Verdana</vt:lpstr>
      <vt:lpstr>Wingdings</vt:lpstr>
      <vt:lpstr>Wingdings 3</vt:lpstr>
      <vt:lpstr>Integral</vt:lpstr>
      <vt:lpstr>Dispersing Points on Intervals</vt:lpstr>
      <vt:lpstr>Problem Definition</vt:lpstr>
      <vt:lpstr>The Cycle Version</vt:lpstr>
      <vt:lpstr>Previous Work and Our Results</vt:lpstr>
      <vt:lpstr>An Example</vt:lpstr>
      <vt:lpstr>Notation</vt:lpstr>
      <vt:lpstr>An Observation</vt:lpstr>
      <vt:lpstr>An Observation(Cont.)</vt:lpstr>
      <vt:lpstr>A Greedy Algorithm</vt:lpstr>
      <vt:lpstr>A Greedy Algorithm (Cont.)</vt:lpstr>
      <vt:lpstr>A Greedy Algorithm (Cont.)</vt:lpstr>
      <vt:lpstr>An Example(Case I)</vt:lpstr>
      <vt:lpstr>An Example(Case II)</vt:lpstr>
      <vt:lpstr>An Example(Case III)</vt:lpstr>
      <vt:lpstr>Case III in General</vt:lpstr>
      <vt:lpstr>Another Observation</vt:lpstr>
      <vt:lpstr>Another Observation (Cont.)</vt:lpstr>
      <vt:lpstr>An Example</vt:lpstr>
      <vt:lpstr>A Critical List of Intervals</vt:lpstr>
      <vt:lpstr>A Summary</vt:lpstr>
      <vt:lpstr>The Cycle Version</vt:lpstr>
      <vt:lpstr>Convert it to a Line Version</vt:lpstr>
      <vt:lpstr>Duplicate the Line Segment</vt:lpstr>
      <vt:lpstr>Thanks!</vt:lpstr>
      <vt:lpstr>Set the Initial d_min</vt:lpstr>
      <vt:lpstr>Set d_min=|C|/n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Shimin Lee</dc:creator>
  <cp:lastModifiedBy>Shimin Li</cp:lastModifiedBy>
  <cp:revision>349</cp:revision>
  <dcterms:created xsi:type="dcterms:W3CDTF">2015-06-12T15:47:10Z</dcterms:created>
  <dcterms:modified xsi:type="dcterms:W3CDTF">2016-12-09T01:01:14Z</dcterms:modified>
</cp:coreProperties>
</file>