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5" r:id="rId1"/>
    <p:sldMasterId id="2147483765" r:id="rId2"/>
  </p:sldMasterIdLst>
  <p:sldIdLst>
    <p:sldId id="256" r:id="rId3"/>
    <p:sldId id="257" r:id="rId4"/>
    <p:sldId id="258" r:id="rId5"/>
    <p:sldId id="279" r:id="rId6"/>
    <p:sldId id="262" r:id="rId7"/>
    <p:sldId id="261" r:id="rId8"/>
    <p:sldId id="260" r:id="rId9"/>
    <p:sldId id="264" r:id="rId10"/>
    <p:sldId id="265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59" r:id="rId25"/>
    <p:sldId id="263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6433" autoAdjust="0"/>
  </p:normalViewPr>
  <p:slideViewPr>
    <p:cSldViewPr snapToGrid="0">
      <p:cViewPr varScale="1">
        <p:scale>
          <a:sx n="107" d="100"/>
          <a:sy n="107" d="100"/>
        </p:scale>
        <p:origin x="13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6494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945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7928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4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01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994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06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5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60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17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124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416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00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79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09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472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41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46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647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64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66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7130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14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8333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862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560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78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7000">
              <a:schemeClr val="accent1">
                <a:lumMod val="20000"/>
                <a:lumOff val="80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5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none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8/3/2015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42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340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58.png"/><Relationship Id="rId7" Type="http://schemas.openxmlformats.org/officeDocument/2006/relationships/image" Target="../media/image51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600.png"/><Relationship Id="rId10" Type="http://schemas.openxmlformats.org/officeDocument/2006/relationships/image" Target="../media/image640.png"/><Relationship Id="rId4" Type="http://schemas.openxmlformats.org/officeDocument/2006/relationships/image" Target="../media/image59.png"/><Relationship Id="rId9" Type="http://schemas.openxmlformats.org/officeDocument/2006/relationships/image" Target="../media/image6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94000"/>
                <a:lumOff val="6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4629" y="1509583"/>
            <a:ext cx="7510377" cy="2262781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b="1" dirty="0">
                <a:ln/>
                <a:solidFill>
                  <a:srgbClr val="0070C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Algorithms for Minimizing the Movements of Spreading Points in Linear </a:t>
            </a:r>
            <a:r>
              <a:rPr lang="en-US" b="1" dirty="0" smtClean="0">
                <a:ln/>
                <a:solidFill>
                  <a:srgbClr val="0070C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Domains</a:t>
            </a:r>
            <a:endParaRPr lang="en-US" b="1" dirty="0">
              <a:ln/>
              <a:solidFill>
                <a:srgbClr val="0070C0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2768" y="4670286"/>
            <a:ext cx="4740120" cy="1126283"/>
          </a:xfrm>
        </p:spPr>
        <p:txBody>
          <a:bodyPr>
            <a:noAutofit/>
          </a:bodyPr>
          <a:lstStyle/>
          <a:p>
            <a:r>
              <a:rPr lang="en-US" sz="3200" b="1" dirty="0">
                <a:ln w="0"/>
                <a:solidFill>
                  <a:srgbClr val="00206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Shimin </a:t>
            </a:r>
            <a:r>
              <a:rPr lang="en-US" sz="3200" b="1" dirty="0" smtClean="0">
                <a:ln w="0"/>
                <a:solidFill>
                  <a:srgbClr val="00206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Li</a:t>
            </a:r>
            <a:r>
              <a:rPr lang="en-US" sz="3200" dirty="0" smtClean="0">
                <a:ln w="0"/>
                <a:solidFill>
                  <a:srgbClr val="00206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, Haitao Wang</a:t>
            </a:r>
          </a:p>
          <a:p>
            <a:pPr>
              <a:lnSpc>
                <a:spcPct val="150000"/>
              </a:lnSpc>
            </a:pPr>
            <a:r>
              <a:rPr lang="en-US" sz="3200" b="1" spc="50" dirty="0" smtClean="0">
                <a:ln w="0">
                  <a:solidFill>
                    <a:srgbClr val="002060"/>
                  </a:solidFill>
                </a:ln>
                <a:solidFill>
                  <a:srgbClr val="002060"/>
                </a:solidFill>
                <a:effectLst>
                  <a:innerShdw blurRad="114300">
                    <a:prstClr val="black"/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Utah State University</a:t>
            </a:r>
            <a:endParaRPr lang="en-US" sz="3200" b="1" spc="50" dirty="0">
              <a:ln w="0">
                <a:solidFill>
                  <a:srgbClr val="002060"/>
                </a:solidFill>
              </a:ln>
              <a:solidFill>
                <a:srgbClr val="002060"/>
              </a:solidFill>
              <a:effectLst>
                <a:innerShdw blurRad="114300">
                  <a:prstClr val="black"/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5394336" y="963064"/>
            <a:ext cx="4371625" cy="567770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Line version</a:t>
            </a:r>
            <a:endParaRPr lang="en-US" sz="4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523999" y="4523051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876764" y="44427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68083" y="44427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46820" y="444179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607909" y="444276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555221" y="44427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88180" y="444276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864098" y="1972431"/>
                <a:ext cx="7369549" cy="575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points on a </a:t>
                </a:r>
                <a:r>
                  <a:rPr lang="en-US" sz="2400" b="1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b="1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a distance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endParaRPr lang="en-US" sz="2400" b="1" dirty="0" smtClean="0">
                  <a:solidFill>
                    <a:srgbClr val="00206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98" y="1972431"/>
                <a:ext cx="7369549" cy="575350"/>
              </a:xfrm>
              <a:prstGeom prst="rect">
                <a:avLst/>
              </a:prstGeom>
              <a:blipFill rotWithShape="0">
                <a:blip r:embed="rId2"/>
                <a:stretch>
                  <a:fillRect l="-1158" b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523999" y="5915481"/>
            <a:ext cx="9531178" cy="436071"/>
            <a:chOff x="1523999" y="5915481"/>
            <a:chExt cx="9531178" cy="436071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523999" y="5998106"/>
              <a:ext cx="9531178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5883879" y="5915483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6781803" y="5921660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3246820" y="5930519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981836" y="5916920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7679725" y="5915482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8577648" y="5915481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411317" y="6040646"/>
                  <a:ext cx="1965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317" y="6040646"/>
                  <a:ext cx="196592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6314305" y="6041364"/>
                  <a:ext cx="1965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305" y="6041364"/>
                  <a:ext cx="196592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7208572" y="6019253"/>
                  <a:ext cx="1965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572" y="6019253"/>
                  <a:ext cx="196592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28125" r="-21875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8102567" y="6019252"/>
                  <a:ext cx="1965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567" y="6019252"/>
                  <a:ext cx="196592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8125" r="-21875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989201" y="6074553"/>
                  <a:ext cx="4338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9201" y="6074553"/>
                  <a:ext cx="433837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8333" r="-833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Striped Right Arrow 37"/>
          <p:cNvSpPr/>
          <p:nvPr/>
        </p:nvSpPr>
        <p:spPr>
          <a:xfrm rot="5400000">
            <a:off x="5665575" y="4980533"/>
            <a:ext cx="733168" cy="50122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64099" y="2522473"/>
                <a:ext cx="8400489" cy="927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Move the points along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𝑳</m:t>
                    </m:r>
                    <m:r>
                      <a:rPr lang="en-US" sz="24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e>
                          <m:lim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400" b="1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sz="24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endParaRPr lang="en-US" sz="2400" b="1" dirty="0">
                  <a:solidFill>
                    <a:srgbClr val="00206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99" y="2522473"/>
                <a:ext cx="8400489" cy="927370"/>
              </a:xfrm>
              <a:prstGeom prst="rect">
                <a:avLst/>
              </a:prstGeom>
              <a:blipFill rotWithShape="0">
                <a:blip r:embed="rId9"/>
                <a:stretch>
                  <a:fillRect l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864098" y="3499726"/>
            <a:ext cx="94116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Minimize</a:t>
            </a:r>
            <a:r>
              <a:rPr lang="en-US" sz="2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</a:t>
            </a:r>
            <a:r>
              <a:rPr lang="en-US" sz="24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maximum</a:t>
            </a:r>
            <a:r>
              <a:rPr lang="en-US" sz="2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moving distance of points</a:t>
            </a:r>
          </a:p>
        </p:txBody>
      </p:sp>
    </p:spTree>
    <p:extLst>
      <p:ext uri="{BB962C8B-B14F-4D97-AF65-F5344CB8AC3E}">
        <p14:creationId xmlns:p14="http://schemas.microsoft.com/office/powerpoint/2010/main" val="336051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8" grpId="0" animBg="1"/>
      <p:bldP spid="19" grpId="0" animBg="1"/>
      <p:bldP spid="20" grpId="0" animBg="1"/>
      <p:bldP spid="21" grpId="0" animBg="1"/>
      <p:bldP spid="52" grpId="0"/>
      <p:bldP spid="38" grpId="0" animBg="1"/>
      <p:bldP spid="5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5128514" y="911526"/>
            <a:ext cx="4024004" cy="511175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Cycle</a:t>
            </a:r>
            <a:r>
              <a:rPr lang="en-US" sz="4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4000" dirty="0">
                <a:latin typeface="Bookman Old Style" panose="02050604050505020204" pitchFamily="18" charset="0"/>
              </a:rPr>
              <a:t>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72475" y="1664022"/>
                <a:ext cx="8415945" cy="575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points on a </a:t>
                </a:r>
                <a:r>
                  <a:rPr lang="en-US" sz="24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cycle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𝑪</m:t>
                    </m:r>
                  </m:oMath>
                </a14:m>
                <a:r>
                  <a:rPr lang="en-US" sz="24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a distance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endParaRPr lang="en-US" sz="24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475" y="1664022"/>
                <a:ext cx="8415945" cy="575350"/>
              </a:xfrm>
              <a:prstGeom prst="rect">
                <a:avLst/>
              </a:prstGeom>
              <a:blipFill rotWithShape="0">
                <a:blip r:embed="rId2"/>
                <a:stretch>
                  <a:fillRect l="-1014" b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85873" y="4177018"/>
            <a:ext cx="4379894" cy="2369295"/>
            <a:chOff x="735803" y="3171984"/>
            <a:chExt cx="4379894" cy="2369295"/>
          </a:xfrm>
        </p:grpSpPr>
        <p:sp>
          <p:nvSpPr>
            <p:cNvPr id="5" name="Freeform 4"/>
            <p:cNvSpPr/>
            <p:nvPr/>
          </p:nvSpPr>
          <p:spPr>
            <a:xfrm>
              <a:off x="735803" y="3246125"/>
              <a:ext cx="4379894" cy="2295154"/>
            </a:xfrm>
            <a:custGeom>
              <a:avLst/>
              <a:gdLst>
                <a:gd name="connsiteX0" fmla="*/ 344068 w 3657015"/>
                <a:gd name="connsiteY0" fmla="*/ 470099 h 3638463"/>
                <a:gd name="connsiteX1" fmla="*/ 1143139 w 3657015"/>
                <a:gd name="connsiteY1" fmla="*/ 542 h 3638463"/>
                <a:gd name="connsiteX2" fmla="*/ 2889560 w 3657015"/>
                <a:gd name="connsiteY2" fmla="*/ 404196 h 3638463"/>
                <a:gd name="connsiteX3" fmla="*/ 3589777 w 3657015"/>
                <a:gd name="connsiteY3" fmla="*/ 1549255 h 3638463"/>
                <a:gd name="connsiteX4" fmla="*/ 3581539 w 3657015"/>
                <a:gd name="connsiteY4" fmla="*/ 2867309 h 3638463"/>
                <a:gd name="connsiteX5" fmla="*/ 3169647 w 3657015"/>
                <a:gd name="connsiteY5" fmla="*/ 3435720 h 3638463"/>
                <a:gd name="connsiteX6" fmla="*/ 1736263 w 3657015"/>
                <a:gd name="connsiteY6" fmla="*/ 3633428 h 3638463"/>
                <a:gd name="connsiteX7" fmla="*/ 780674 w 3657015"/>
                <a:gd name="connsiteY7" fmla="*/ 3262726 h 3638463"/>
                <a:gd name="connsiteX8" fmla="*/ 14555 w 3657015"/>
                <a:gd name="connsiteY8" fmla="*/ 1343309 h 3638463"/>
                <a:gd name="connsiteX9" fmla="*/ 344068 w 3657015"/>
                <a:gd name="connsiteY9" fmla="*/ 470099 h 3638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7015" h="3638463">
                  <a:moveTo>
                    <a:pt x="344068" y="470099"/>
                  </a:moveTo>
                  <a:cubicBezTo>
                    <a:pt x="532165" y="246304"/>
                    <a:pt x="718890" y="11526"/>
                    <a:pt x="1143139" y="542"/>
                  </a:cubicBezTo>
                  <a:cubicBezTo>
                    <a:pt x="1567388" y="-10442"/>
                    <a:pt x="2481787" y="146077"/>
                    <a:pt x="2889560" y="404196"/>
                  </a:cubicBezTo>
                  <a:cubicBezTo>
                    <a:pt x="3297333" y="662315"/>
                    <a:pt x="3474447" y="1138736"/>
                    <a:pt x="3589777" y="1549255"/>
                  </a:cubicBezTo>
                  <a:cubicBezTo>
                    <a:pt x="3705107" y="1959774"/>
                    <a:pt x="3651561" y="2552898"/>
                    <a:pt x="3581539" y="2867309"/>
                  </a:cubicBezTo>
                  <a:cubicBezTo>
                    <a:pt x="3511517" y="3181720"/>
                    <a:pt x="3477193" y="3308034"/>
                    <a:pt x="3169647" y="3435720"/>
                  </a:cubicBezTo>
                  <a:cubicBezTo>
                    <a:pt x="2862101" y="3563407"/>
                    <a:pt x="2134425" y="3662260"/>
                    <a:pt x="1736263" y="3633428"/>
                  </a:cubicBezTo>
                  <a:cubicBezTo>
                    <a:pt x="1338101" y="3604596"/>
                    <a:pt x="1067625" y="3644412"/>
                    <a:pt x="780674" y="3262726"/>
                  </a:cubicBezTo>
                  <a:cubicBezTo>
                    <a:pt x="493723" y="2881040"/>
                    <a:pt x="87323" y="1814239"/>
                    <a:pt x="14555" y="1343309"/>
                  </a:cubicBezTo>
                  <a:cubicBezTo>
                    <a:pt x="-58213" y="872379"/>
                    <a:pt x="155971" y="693894"/>
                    <a:pt x="344068" y="47009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670087" y="3218159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285440" y="3171984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153795" y="3452937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1024128" y="4639186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959888" y="4997582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516260" y="3635452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959888" y="4177018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64306" y="4200626"/>
            <a:ext cx="4449275" cy="2345687"/>
            <a:chOff x="6364306" y="4200626"/>
            <a:chExt cx="4449275" cy="2345687"/>
          </a:xfrm>
        </p:grpSpPr>
        <p:sp>
          <p:nvSpPr>
            <p:cNvPr id="19" name="Freeform 18"/>
            <p:cNvSpPr/>
            <p:nvPr/>
          </p:nvSpPr>
          <p:spPr>
            <a:xfrm>
              <a:off x="6364306" y="4251159"/>
              <a:ext cx="4379894" cy="2295154"/>
            </a:xfrm>
            <a:custGeom>
              <a:avLst/>
              <a:gdLst>
                <a:gd name="connsiteX0" fmla="*/ 344068 w 3657015"/>
                <a:gd name="connsiteY0" fmla="*/ 470099 h 3638463"/>
                <a:gd name="connsiteX1" fmla="*/ 1143139 w 3657015"/>
                <a:gd name="connsiteY1" fmla="*/ 542 h 3638463"/>
                <a:gd name="connsiteX2" fmla="*/ 2889560 w 3657015"/>
                <a:gd name="connsiteY2" fmla="*/ 404196 h 3638463"/>
                <a:gd name="connsiteX3" fmla="*/ 3589777 w 3657015"/>
                <a:gd name="connsiteY3" fmla="*/ 1549255 h 3638463"/>
                <a:gd name="connsiteX4" fmla="*/ 3581539 w 3657015"/>
                <a:gd name="connsiteY4" fmla="*/ 2867309 h 3638463"/>
                <a:gd name="connsiteX5" fmla="*/ 3169647 w 3657015"/>
                <a:gd name="connsiteY5" fmla="*/ 3435720 h 3638463"/>
                <a:gd name="connsiteX6" fmla="*/ 1736263 w 3657015"/>
                <a:gd name="connsiteY6" fmla="*/ 3633428 h 3638463"/>
                <a:gd name="connsiteX7" fmla="*/ 780674 w 3657015"/>
                <a:gd name="connsiteY7" fmla="*/ 3262726 h 3638463"/>
                <a:gd name="connsiteX8" fmla="*/ 14555 w 3657015"/>
                <a:gd name="connsiteY8" fmla="*/ 1343309 h 3638463"/>
                <a:gd name="connsiteX9" fmla="*/ 344068 w 3657015"/>
                <a:gd name="connsiteY9" fmla="*/ 470099 h 3638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7015" h="3638463">
                  <a:moveTo>
                    <a:pt x="344068" y="470099"/>
                  </a:moveTo>
                  <a:cubicBezTo>
                    <a:pt x="532165" y="246304"/>
                    <a:pt x="718890" y="11526"/>
                    <a:pt x="1143139" y="542"/>
                  </a:cubicBezTo>
                  <a:cubicBezTo>
                    <a:pt x="1567388" y="-10442"/>
                    <a:pt x="2481787" y="146077"/>
                    <a:pt x="2889560" y="404196"/>
                  </a:cubicBezTo>
                  <a:cubicBezTo>
                    <a:pt x="3297333" y="662315"/>
                    <a:pt x="3474447" y="1138736"/>
                    <a:pt x="3589777" y="1549255"/>
                  </a:cubicBezTo>
                  <a:cubicBezTo>
                    <a:pt x="3705107" y="1959774"/>
                    <a:pt x="3651561" y="2552898"/>
                    <a:pt x="3581539" y="2867309"/>
                  </a:cubicBezTo>
                  <a:cubicBezTo>
                    <a:pt x="3511517" y="3181720"/>
                    <a:pt x="3477193" y="3308034"/>
                    <a:pt x="3169647" y="3435720"/>
                  </a:cubicBezTo>
                  <a:cubicBezTo>
                    <a:pt x="2862101" y="3563407"/>
                    <a:pt x="2134425" y="3662260"/>
                    <a:pt x="1736263" y="3633428"/>
                  </a:cubicBezTo>
                  <a:cubicBezTo>
                    <a:pt x="1338101" y="3604596"/>
                    <a:pt x="1067625" y="3644412"/>
                    <a:pt x="780674" y="3262726"/>
                  </a:cubicBezTo>
                  <a:cubicBezTo>
                    <a:pt x="493723" y="2881040"/>
                    <a:pt x="87323" y="1814239"/>
                    <a:pt x="14555" y="1343309"/>
                  </a:cubicBezTo>
                  <a:cubicBezTo>
                    <a:pt x="-58213" y="872379"/>
                    <a:pt x="155971" y="693894"/>
                    <a:pt x="344068" y="47009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7140516" y="4266962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8133834" y="4200626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9258113" y="4325299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660159" y="5644394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10300572" y="6274639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10152291" y="4640660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10665300" y="5392998"/>
              <a:ext cx="148281" cy="1482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triped Right Arrow 2"/>
          <p:cNvSpPr/>
          <p:nvPr/>
        </p:nvSpPr>
        <p:spPr>
          <a:xfrm>
            <a:off x="5412481" y="5216525"/>
            <a:ext cx="733168" cy="50122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72475" y="2253019"/>
                <a:ext cx="8561887" cy="927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Move the points along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𝑪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e>
                          <m:lim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475" y="2253019"/>
                <a:ext cx="8561887" cy="927370"/>
              </a:xfrm>
              <a:prstGeom prst="rect">
                <a:avLst/>
              </a:prstGeom>
              <a:blipFill rotWithShape="0">
                <a:blip r:embed="rId3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772475" y="3342826"/>
            <a:ext cx="8873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Minimize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maximum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moving distance of points</a:t>
            </a:r>
          </a:p>
        </p:txBody>
      </p:sp>
    </p:spTree>
    <p:extLst>
      <p:ext uri="{BB962C8B-B14F-4D97-AF65-F5344CB8AC3E}">
        <p14:creationId xmlns:p14="http://schemas.microsoft.com/office/powerpoint/2010/main" val="156109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Previous Work And Our Results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62147" y="2084832"/>
                <a:ext cx="7199665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err="1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Dumitrescu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and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Jiang (2011) solved </a:t>
                </a:r>
                <a:r>
                  <a:rPr lang="en-US" sz="2800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both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versions by </a:t>
                </a:r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linear programming (of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</m:oMath>
                </a14:m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variables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and</a:t>
                </a:r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</m:oMath>
                </a14:m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constraints)</a:t>
                </a:r>
                <a:endParaRPr lang="en-US" sz="2800" b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47" y="2084832"/>
                <a:ext cx="7199665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693" t="-4405" r="-1948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262147" y="3899692"/>
            <a:ext cx="69997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weakly-polynomial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62147" y="5196987"/>
                <a:ext cx="5962535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 </m:t>
                    </m:r>
                  </m:oMath>
                </a14:m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time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for both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versions - greedy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algorithms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47" y="5196987"/>
                <a:ext cx="5962535" cy="954107"/>
              </a:xfrm>
              <a:prstGeom prst="rect">
                <a:avLst/>
              </a:prstGeom>
              <a:blipFill rotWithShape="0">
                <a:blip r:embed="rId4"/>
                <a:stretch>
                  <a:fillRect l="-2045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972738" y="2104582"/>
            <a:ext cx="22894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Previous work: 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326" y="5150820"/>
            <a:ext cx="1859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results: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9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118575" y="3913451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71340" y="38331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62659" y="3833158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841396" y="383219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202485" y="3833160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48374" y="3824438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545982" y="3833481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18575" y="5388506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78455" y="530588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376379" y="5312060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841396" y="532091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576412" y="5307320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274301" y="5305882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172224" y="5305881"/>
            <a:ext cx="148281" cy="148281"/>
          </a:xfrm>
          <a:prstGeom prst="ellipse">
            <a:avLst/>
          </a:prstGeom>
          <a:solidFill>
            <a:srgbClr val="C0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/>
          <p:cNvCxnSpPr>
            <a:stCxn id="10" idx="3"/>
            <a:endCxn id="17" idx="7"/>
          </p:cNvCxnSpPr>
          <p:nvPr/>
        </p:nvCxnSpPr>
        <p:spPr>
          <a:xfrm flipH="1">
            <a:off x="4702978" y="3959726"/>
            <a:ext cx="521222" cy="136930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5"/>
            <a:endCxn id="15" idx="1"/>
          </p:cNvCxnSpPr>
          <p:nvPr/>
        </p:nvCxnSpPr>
        <p:spPr>
          <a:xfrm>
            <a:off x="5889225" y="3959724"/>
            <a:ext cx="508869" cy="1374051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5"/>
            <a:endCxn id="18" idx="0"/>
          </p:cNvCxnSpPr>
          <p:nvPr/>
        </p:nvCxnSpPr>
        <p:spPr>
          <a:xfrm>
            <a:off x="6574940" y="3951004"/>
            <a:ext cx="773502" cy="1354878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5"/>
            <a:endCxn id="19" idx="0"/>
          </p:cNvCxnSpPr>
          <p:nvPr/>
        </p:nvCxnSpPr>
        <p:spPr>
          <a:xfrm>
            <a:off x="7672548" y="3960047"/>
            <a:ext cx="573817" cy="1345834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6412" y="2009693"/>
            <a:ext cx="674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At least two points moved to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opposite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directions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66422" y="5535217"/>
            <a:ext cx="1210203" cy="5847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43872" y="5535217"/>
            <a:ext cx="1409137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00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(Cont.)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012482" y="1563229"/>
            <a:ext cx="6748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The maximum movement distances to the </a:t>
            </a:r>
            <a:r>
              <a:rPr lang="en-US" sz="2800" b="1" dirty="0" smtClean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opposite directions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must be </a:t>
            </a:r>
            <a:r>
              <a:rPr lang="en-US" sz="2800" b="1" dirty="0" smtClean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same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 any optimal solution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1448355" y="4160588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22555" y="40793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672874" y="4093768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176" y="40793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030224" y="408644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088875" y="40793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312536" y="408029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448355" y="5635643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348968" y="556150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566846" y="555301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106384" y="556150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96789" y="556936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57907" y="555301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601644" y="555301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7" idx="3"/>
            <a:endCxn id="14" idx="7"/>
          </p:cNvCxnSpPr>
          <p:nvPr/>
        </p:nvCxnSpPr>
        <p:spPr>
          <a:xfrm flipH="1">
            <a:off x="4323355" y="4213013"/>
            <a:ext cx="728584" cy="137806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4"/>
            <a:endCxn id="11" idx="0"/>
          </p:cNvCxnSpPr>
          <p:nvPr/>
        </p:nvCxnSpPr>
        <p:spPr>
          <a:xfrm flipH="1">
            <a:off x="5423109" y="4227616"/>
            <a:ext cx="73587" cy="133388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5"/>
            <a:endCxn id="12" idx="1"/>
          </p:cNvCxnSpPr>
          <p:nvPr/>
        </p:nvCxnSpPr>
        <p:spPr>
          <a:xfrm>
            <a:off x="6799440" y="4220334"/>
            <a:ext cx="789121" cy="1354398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4"/>
            <a:endCxn id="15" idx="0"/>
          </p:cNvCxnSpPr>
          <p:nvPr/>
        </p:nvCxnSpPr>
        <p:spPr>
          <a:xfrm>
            <a:off x="6163016" y="4227616"/>
            <a:ext cx="36903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8386677" y="4228578"/>
            <a:ext cx="289108" cy="1324439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4"/>
            <a:endCxn id="13" idx="0"/>
          </p:cNvCxnSpPr>
          <p:nvPr/>
        </p:nvCxnSpPr>
        <p:spPr>
          <a:xfrm flipH="1">
            <a:off x="3180525" y="4227616"/>
            <a:ext cx="64792" cy="1333884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7" idx="4"/>
          </p:cNvCxnSpPr>
          <p:nvPr/>
        </p:nvCxnSpPr>
        <p:spPr>
          <a:xfrm flipV="1">
            <a:off x="5104364" y="4234728"/>
            <a:ext cx="1" cy="17459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6731482" y="4218730"/>
            <a:ext cx="1" cy="17459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269001" y="5709782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7640986" y="5702023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256974" y="5831046"/>
                <a:ext cx="856901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974" y="5831046"/>
                <a:ext cx="856901" cy="46538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793595" y="5845226"/>
                <a:ext cx="1031629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595" y="5845226"/>
                <a:ext cx="1031629" cy="4658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>
            <a:off x="4269001" y="5831046"/>
            <a:ext cx="835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731482" y="5831046"/>
            <a:ext cx="909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255059" y="3137560"/>
                <a:ext cx="9713141" cy="564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Example: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In any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𝑶𝑷𝑻</m:t>
                    </m:r>
                  </m:oMath>
                </a14:m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, we must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𝑫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𝒍𝒆𝒇𝒕</m:t>
                        </m:r>
                      </m:sub>
                    </m:sSub>
                    <m:r>
                      <a:rPr lang="en-US" sz="28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=</m:t>
                    </m:r>
                    <m:sSub>
                      <m:sSubPr>
                        <m:ctrlP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𝑫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𝒓𝒊𝒈𝒉𝒕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.</a:t>
                </a:r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59" y="3137560"/>
                <a:ext cx="9713141" cy="564065"/>
              </a:xfrm>
              <a:prstGeom prst="rect">
                <a:avLst/>
              </a:prstGeom>
              <a:blipFill rotWithShape="0">
                <a:blip r:embed="rId4"/>
                <a:stretch>
                  <a:fillRect l="-1318" t="-11957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90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1" grpId="0"/>
      <p:bldP spid="52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429034" y="1777860"/>
                <a:ext cx="8273601" cy="142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The distance between any two </a:t>
                </a:r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adjacent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points must be </a:t>
                </a:r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exactly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800" dirty="0" smtClean="0"/>
                  <a:t> </a:t>
                </a: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in the range of two points which moved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𝐷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𝑙𝑒𝑓𝑡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𝐷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𝑟𝑖𝑔h𝑡</m:t>
                        </m:r>
                      </m:sub>
                    </m:sSub>
                  </m:oMath>
                </a14:m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34" y="1777860"/>
                <a:ext cx="8273601" cy="1420004"/>
              </a:xfrm>
              <a:prstGeom prst="rect">
                <a:avLst/>
              </a:prstGeom>
              <a:blipFill rotWithShape="0">
                <a:blip r:embed="rId2"/>
                <a:stretch>
                  <a:fillRect l="-1548" t="-4721" b="-8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1213022" y="4302204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187222" y="422095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148258" y="423438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98681" y="422806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94891" y="4228063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53542" y="422095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580871" y="4213669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213022" y="5777259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113635" y="570311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331513" y="569463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809277" y="571600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961456" y="5710983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222574" y="569463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455092" y="5701954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7" idx="3"/>
            <a:endCxn id="14" idx="7"/>
          </p:cNvCxnSpPr>
          <p:nvPr/>
        </p:nvCxnSpPr>
        <p:spPr>
          <a:xfrm flipH="1">
            <a:off x="4088022" y="4354629"/>
            <a:ext cx="728584" cy="137806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4"/>
            <a:endCxn id="11" idx="0"/>
          </p:cNvCxnSpPr>
          <p:nvPr/>
        </p:nvCxnSpPr>
        <p:spPr>
          <a:xfrm flipH="1">
            <a:off x="5187776" y="4369232"/>
            <a:ext cx="73587" cy="133388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4"/>
            <a:endCxn id="12" idx="0"/>
          </p:cNvCxnSpPr>
          <p:nvPr/>
        </p:nvCxnSpPr>
        <p:spPr>
          <a:xfrm>
            <a:off x="7222399" y="4382664"/>
            <a:ext cx="183255" cy="1311969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4"/>
            <a:endCxn id="15" idx="0"/>
          </p:cNvCxnSpPr>
          <p:nvPr/>
        </p:nvCxnSpPr>
        <p:spPr>
          <a:xfrm>
            <a:off x="5927683" y="4369232"/>
            <a:ext cx="36903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5"/>
            <a:endCxn id="16" idx="0"/>
          </p:cNvCxnSpPr>
          <p:nvPr/>
        </p:nvCxnSpPr>
        <p:spPr>
          <a:xfrm>
            <a:off x="7707437" y="4340235"/>
            <a:ext cx="821796" cy="136171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4"/>
            <a:endCxn id="13" idx="0"/>
          </p:cNvCxnSpPr>
          <p:nvPr/>
        </p:nvCxnSpPr>
        <p:spPr>
          <a:xfrm flipH="1">
            <a:off x="2883418" y="4376344"/>
            <a:ext cx="489404" cy="133966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187222" y="5859264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033668" y="5851398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7405653" y="5843639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12149" y="6009412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49" y="6009412"/>
                <a:ext cx="305789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>
            <a:off x="4033669" y="5972662"/>
            <a:ext cx="115355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6296714" y="5837905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296716" y="5972662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5187777" y="5972662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43949" y="6009412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49" y="6009412"/>
                <a:ext cx="30578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52888" y="6009411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888" y="6009411"/>
                <a:ext cx="305789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1506517" y="422095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501231" y="571098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47" idx="4"/>
            <a:endCxn id="49" idx="0"/>
          </p:cNvCxnSpPr>
          <p:nvPr/>
        </p:nvCxnSpPr>
        <p:spPr>
          <a:xfrm flipH="1">
            <a:off x="1575372" y="4369232"/>
            <a:ext cx="5286" cy="1341751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8529233" y="5843639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420296" y="5972662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876468" y="6009411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468" y="6009411"/>
                <a:ext cx="305789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/>
          <p:cNvSpPr/>
          <p:nvPr/>
        </p:nvSpPr>
        <p:spPr>
          <a:xfrm>
            <a:off x="9202747" y="422308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571779" y="569676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7" idx="4"/>
            <a:endCxn id="68" idx="0"/>
          </p:cNvCxnSpPr>
          <p:nvPr/>
        </p:nvCxnSpPr>
        <p:spPr>
          <a:xfrm>
            <a:off x="9276888" y="4371361"/>
            <a:ext cx="36903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327978" y="3648702"/>
                <a:ext cx="977255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978" y="3648702"/>
                <a:ext cx="977255" cy="5318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7160757" y="3657662"/>
                <a:ext cx="1177630" cy="532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757" y="3657662"/>
                <a:ext cx="1177630" cy="53245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5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1" grpId="0"/>
      <p:bldP spid="44" grpId="0"/>
      <p:bldP spid="46" grpId="0"/>
      <p:bldP spid="47" grpId="0" animBg="1"/>
      <p:bldP spid="49" grpId="0" animBg="1"/>
      <p:bldP spid="60" grpId="0"/>
      <p:bldP spid="67" grpId="0" animBg="1"/>
      <p:bldP spid="68" grpId="0" animBg="1"/>
      <p:bldP spid="70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/>
          <p:cNvCxnSpPr/>
          <p:nvPr/>
        </p:nvCxnSpPr>
        <p:spPr>
          <a:xfrm flipV="1">
            <a:off x="7906820" y="3541910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44778" y="1703177"/>
                <a:ext cx="658699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𝑙𝑒𝑓𝑡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f>
                        <m:f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7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𝛿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l-GR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778" y="1703177"/>
                <a:ext cx="6586995" cy="97872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1464831" y="3871898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39031" y="37906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310571" y="379775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50490" y="37977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046700" y="379775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05351" y="37906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832680" y="3783363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464831" y="5346953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365444" y="52728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583322" y="526432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061086" y="528570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213265" y="528067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74383" y="526432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706901" y="5271648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7" idx="3"/>
            <a:endCxn id="14" idx="7"/>
          </p:cNvCxnSpPr>
          <p:nvPr/>
        </p:nvCxnSpPr>
        <p:spPr>
          <a:xfrm flipH="1">
            <a:off x="4339831" y="3924323"/>
            <a:ext cx="728584" cy="137806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4"/>
            <a:endCxn id="11" idx="0"/>
          </p:cNvCxnSpPr>
          <p:nvPr/>
        </p:nvCxnSpPr>
        <p:spPr>
          <a:xfrm flipH="1">
            <a:off x="5439585" y="3938926"/>
            <a:ext cx="73587" cy="133388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4"/>
            <a:endCxn id="12" idx="0"/>
          </p:cNvCxnSpPr>
          <p:nvPr/>
        </p:nvCxnSpPr>
        <p:spPr>
          <a:xfrm>
            <a:off x="7384712" y="3946037"/>
            <a:ext cx="272751" cy="1318290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4"/>
            <a:endCxn id="15" idx="0"/>
          </p:cNvCxnSpPr>
          <p:nvPr/>
        </p:nvCxnSpPr>
        <p:spPr>
          <a:xfrm>
            <a:off x="6179492" y="3938926"/>
            <a:ext cx="36903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5"/>
            <a:endCxn id="16" idx="0"/>
          </p:cNvCxnSpPr>
          <p:nvPr/>
        </p:nvCxnSpPr>
        <p:spPr>
          <a:xfrm>
            <a:off x="7959246" y="3909929"/>
            <a:ext cx="821796" cy="136171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4"/>
            <a:endCxn id="13" idx="0"/>
          </p:cNvCxnSpPr>
          <p:nvPr/>
        </p:nvCxnSpPr>
        <p:spPr>
          <a:xfrm flipH="1">
            <a:off x="3135227" y="3946038"/>
            <a:ext cx="489404" cy="133966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439031" y="5428958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285477" y="5421092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7657462" y="5413333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763958" y="5579106"/>
                <a:ext cx="262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958" y="5579106"/>
                <a:ext cx="26212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5581" r="-2093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>
            <a:off x="4285478" y="5542356"/>
            <a:ext cx="115355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6548523" y="5407599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548525" y="55423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5439586" y="55423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895758" y="5579106"/>
                <a:ext cx="262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758" y="5579106"/>
                <a:ext cx="26212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5581" r="-2093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004697" y="5579105"/>
                <a:ext cx="262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697" y="5579105"/>
                <a:ext cx="26212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5581" r="-2093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1881275" y="37977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883397" y="526432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47" idx="4"/>
            <a:endCxn id="49" idx="0"/>
          </p:cNvCxnSpPr>
          <p:nvPr/>
        </p:nvCxnSpPr>
        <p:spPr>
          <a:xfrm>
            <a:off x="1955416" y="3946038"/>
            <a:ext cx="2122" cy="1318289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8781042" y="5413333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672105" y="55423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128277" y="5579105"/>
                <a:ext cx="2621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277" y="5579105"/>
                <a:ext cx="26212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5581" r="-2093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/>
          <p:cNvSpPr/>
          <p:nvPr/>
        </p:nvSpPr>
        <p:spPr>
          <a:xfrm>
            <a:off x="9454556" y="379277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823588" y="52664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7" idx="4"/>
            <a:endCxn id="68" idx="0"/>
          </p:cNvCxnSpPr>
          <p:nvPr/>
        </p:nvCxnSpPr>
        <p:spPr>
          <a:xfrm>
            <a:off x="9528697" y="3941055"/>
            <a:ext cx="36903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/>
          <p:cNvSpPr/>
          <p:nvPr/>
        </p:nvSpPr>
        <p:spPr>
          <a:xfrm rot="16200000">
            <a:off x="6427080" y="3699872"/>
            <a:ext cx="212362" cy="4495566"/>
          </a:xfrm>
          <a:prstGeom prst="leftBrace">
            <a:avLst>
              <a:gd name="adj1" fmla="val 5406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349116" y="6098480"/>
                <a:ext cx="4320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116" y="6098480"/>
                <a:ext cx="432041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5714" r="-14286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 flipV="1">
            <a:off x="5116244" y="3542645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 flipV="1">
            <a:off x="5116247" y="3663909"/>
            <a:ext cx="2790573" cy="3254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6026819" y="3261064"/>
                <a:ext cx="1057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819" y="3261064"/>
                <a:ext cx="1057212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890" r="-1734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153414" y="3257442"/>
                <a:ext cx="1041567" cy="5577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414" y="3257442"/>
                <a:ext cx="1041567" cy="55771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827142" y="3299273"/>
                <a:ext cx="1216295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142" y="3299273"/>
                <a:ext cx="1216295" cy="5582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62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1" grpId="0"/>
      <p:bldP spid="44" grpId="0"/>
      <p:bldP spid="46" grpId="0"/>
      <p:bldP spid="47" grpId="0" animBg="1"/>
      <p:bldP spid="49" grpId="0" animBg="1"/>
      <p:bldP spid="60" grpId="0"/>
      <p:bldP spid="67" grpId="0" animBg="1"/>
      <p:bldP spid="68" grpId="0" animBg="1"/>
      <p:bldP spid="37" grpId="0" animBg="1"/>
      <p:bldP spid="70" grpId="0"/>
      <p:bldP spid="76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Formula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873000" y="2171039"/>
                <a:ext cx="6586995" cy="2346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𝑙𝑒𝑓𝑡</m:t>
                          </m:r>
                        </m:sub>
                      </m:sSub>
                      <m:r>
                        <a:rPr lang="en-US" sz="3200" b="0" i="0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US" sz="3200" i="1" dirty="0" smtClean="0"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endParaRPr lang="en-US" sz="3200" i="1" dirty="0" smtClean="0"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1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≤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&lt;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≤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𝑗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−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𝛿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000" y="2171039"/>
                <a:ext cx="6586995" cy="23469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3608172" y="5273104"/>
                <a:ext cx="7454275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How to </a:t>
                </a:r>
                <a:r>
                  <a:rPr lang="en-US" sz="32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𝐷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𝑙𝑒𝑓𝑡</m:t>
                        </m:r>
                      </m:sub>
                    </m:sSub>
                  </m:oMath>
                </a14:m>
                <a:r>
                  <a:rPr lang="en-US" sz="32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𝐷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𝑟𝑖𝑔h𝑡</m:t>
                        </m:r>
                      </m:sub>
                    </m:sSub>
                  </m:oMath>
                </a14:m>
                <a:r>
                  <a:rPr lang="en-US" sz="32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</m:t>
                    </m:r>
                  </m:oMath>
                </a14:m>
                <a:r>
                  <a:rPr lang="en-US" sz="32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time?</a:t>
                </a:r>
                <a:endParaRPr lang="en-US" sz="3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172" y="5273104"/>
                <a:ext cx="7454275" cy="1117229"/>
              </a:xfrm>
              <a:prstGeom prst="rect">
                <a:avLst/>
              </a:prstGeom>
              <a:blipFill rotWithShape="0">
                <a:blip r:embed="rId3"/>
                <a:stretch>
                  <a:fillRect l="-2126" t="-7104" b="-16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375131" y="5273104"/>
            <a:ext cx="24449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845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/>
          <p:cNvCxnSpPr/>
          <p:nvPr/>
        </p:nvCxnSpPr>
        <p:spPr>
          <a:xfrm flipV="1">
            <a:off x="7905951" y="3237254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464831" y="3567098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39031" y="34858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154469" y="34929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50490" y="34929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046700" y="349295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05351" y="34858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832680" y="3478563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464831" y="5042153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64504" y="49680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682382" y="495952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160146" y="498090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12325" y="4975877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573443" y="495952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805961" y="4966848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7" idx="3"/>
            <a:endCxn id="14" idx="7"/>
          </p:cNvCxnSpPr>
          <p:nvPr/>
        </p:nvCxnSpPr>
        <p:spPr>
          <a:xfrm flipH="1">
            <a:off x="4438891" y="3619523"/>
            <a:ext cx="629524" cy="137806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4"/>
            <a:endCxn id="11" idx="0"/>
          </p:cNvCxnSpPr>
          <p:nvPr/>
        </p:nvCxnSpPr>
        <p:spPr>
          <a:xfrm>
            <a:off x="5513172" y="3634126"/>
            <a:ext cx="25473" cy="133388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5"/>
            <a:endCxn id="12" idx="1"/>
          </p:cNvCxnSpPr>
          <p:nvPr/>
        </p:nvCxnSpPr>
        <p:spPr>
          <a:xfrm>
            <a:off x="7281035" y="3619523"/>
            <a:ext cx="423062" cy="1361719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4"/>
            <a:endCxn id="15" idx="0"/>
          </p:cNvCxnSpPr>
          <p:nvPr/>
        </p:nvCxnSpPr>
        <p:spPr>
          <a:xfrm>
            <a:off x="6179492" y="3634126"/>
            <a:ext cx="46809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5"/>
            <a:endCxn id="16" idx="0"/>
          </p:cNvCxnSpPr>
          <p:nvPr/>
        </p:nvCxnSpPr>
        <p:spPr>
          <a:xfrm>
            <a:off x="7959246" y="3605129"/>
            <a:ext cx="920856" cy="136171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4"/>
            <a:endCxn id="13" idx="0"/>
          </p:cNvCxnSpPr>
          <p:nvPr/>
        </p:nvCxnSpPr>
        <p:spPr>
          <a:xfrm flipH="1">
            <a:off x="3234287" y="3641238"/>
            <a:ext cx="390344" cy="1339665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538091" y="5124158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384537" y="5116292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7756522" y="5108533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863018" y="5274306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018" y="5274306"/>
                <a:ext cx="305789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>
            <a:off x="4384538" y="5237556"/>
            <a:ext cx="115355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6647583" y="5102799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647585" y="52375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5538646" y="52375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994818" y="5274306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818" y="5274306"/>
                <a:ext cx="305789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103757" y="5274305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57" y="5274305"/>
                <a:ext cx="30578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504688" y="34858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005667" y="495996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47" idx="3"/>
            <a:endCxn id="49" idx="7"/>
          </p:cNvCxnSpPr>
          <p:nvPr/>
        </p:nvCxnSpPr>
        <p:spPr>
          <a:xfrm flipH="1">
            <a:off x="2132233" y="3612411"/>
            <a:ext cx="394170" cy="1369271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8880102" y="5108533"/>
            <a:ext cx="0" cy="2708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771165" y="5237556"/>
            <a:ext cx="110893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227337" y="5274305"/>
                <a:ext cx="305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337" y="5274305"/>
                <a:ext cx="305789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/>
          <p:cNvSpPr/>
          <p:nvPr/>
        </p:nvSpPr>
        <p:spPr>
          <a:xfrm>
            <a:off x="9454556" y="348797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922648" y="49616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7" idx="4"/>
            <a:endCxn id="68" idx="0"/>
          </p:cNvCxnSpPr>
          <p:nvPr/>
        </p:nvCxnSpPr>
        <p:spPr>
          <a:xfrm>
            <a:off x="9528697" y="3636255"/>
            <a:ext cx="468092" cy="1325402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/>
          <p:cNvSpPr/>
          <p:nvPr/>
        </p:nvSpPr>
        <p:spPr>
          <a:xfrm rot="16200000">
            <a:off x="6526140" y="3395072"/>
            <a:ext cx="212362" cy="4495566"/>
          </a:xfrm>
          <a:prstGeom prst="leftBrace">
            <a:avLst>
              <a:gd name="adj1" fmla="val 5406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469904" y="5816052"/>
                <a:ext cx="5045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904" y="5816052"/>
                <a:ext cx="50456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 flipV="1">
            <a:off x="5116244" y="3237845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 flipV="1">
            <a:off x="5116247" y="3359109"/>
            <a:ext cx="2789704" cy="3253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966650" y="2925439"/>
                <a:ext cx="123540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650" y="2925439"/>
                <a:ext cx="1235403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47" idx="4"/>
          </p:cNvCxnSpPr>
          <p:nvPr/>
        </p:nvCxnSpPr>
        <p:spPr>
          <a:xfrm>
            <a:off x="2578829" y="3634126"/>
            <a:ext cx="253760" cy="1354830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" idx="4"/>
          </p:cNvCxnSpPr>
          <p:nvPr/>
        </p:nvCxnSpPr>
        <p:spPr>
          <a:xfrm>
            <a:off x="3624631" y="3641238"/>
            <a:ext cx="363293" cy="1356354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4" idx="4"/>
          </p:cNvCxnSpPr>
          <p:nvPr/>
        </p:nvCxnSpPr>
        <p:spPr>
          <a:xfrm>
            <a:off x="5513172" y="3634126"/>
            <a:ext cx="774756" cy="1363466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" idx="4"/>
          </p:cNvCxnSpPr>
          <p:nvPr/>
        </p:nvCxnSpPr>
        <p:spPr>
          <a:xfrm>
            <a:off x="6179492" y="3634126"/>
            <a:ext cx="1217373" cy="1363466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67" idx="4"/>
          </p:cNvCxnSpPr>
          <p:nvPr/>
        </p:nvCxnSpPr>
        <p:spPr>
          <a:xfrm>
            <a:off x="9528697" y="3636255"/>
            <a:ext cx="1215503" cy="1386518"/>
          </a:xfrm>
          <a:prstGeom prst="straightConnector1">
            <a:avLst/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7" idx="4"/>
          </p:cNvCxnSpPr>
          <p:nvPr/>
        </p:nvCxnSpPr>
        <p:spPr>
          <a:xfrm>
            <a:off x="5120841" y="3641238"/>
            <a:ext cx="16106" cy="1371388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5" idx="4"/>
          </p:cNvCxnSpPr>
          <p:nvPr/>
        </p:nvCxnSpPr>
        <p:spPr>
          <a:xfrm>
            <a:off x="7228610" y="3641238"/>
            <a:ext cx="1269026" cy="1317564"/>
          </a:xfrm>
          <a:prstGeom prst="straightConnector1">
            <a:avLst/>
          </a:prstGeom>
          <a:ln w="12700">
            <a:solidFill>
              <a:schemeClr val="accent1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9" idx="4"/>
          </p:cNvCxnSpPr>
          <p:nvPr/>
        </p:nvCxnSpPr>
        <p:spPr>
          <a:xfrm>
            <a:off x="7906821" y="3626844"/>
            <a:ext cx="1696016" cy="1369433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834735" y="2170363"/>
                <a:ext cx="6586995" cy="5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𝑙𝑒𝑓𝑡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𝐶𝑜𝑛𝑠𝑡𝑎𝑛𝑡</m:t>
                      </m:r>
                    </m:oMath>
                  </m:oMathPara>
                </a14:m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735" y="2170363"/>
                <a:ext cx="6586995" cy="5582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2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3.125E-6 0.00023 C 0.03268 -0.00186 0.01159 -0.00116 0.06315 -0.00116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2.08333E-6 0.00023 C 0.03268 -0.00185 0.01159 -0.00116 0.06315 -0.00116 " pathEditMode="relative" rAng="0" ptsTypes="AAA">
                                      <p:cBhvr>
                                        <p:cTn id="3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96296E-6 L -4.375E-6 0.00023 C 0.03269 -0.00185 0.01159 -0.00116 0.06316 -0.00116 " pathEditMode="relative" rAng="0" ptsTypes="AAA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0.00023 C 0.03268 -0.00185 0.01158 -0.00115 0.06315 -0.00115 " pathEditMode="relative" rAng="0" ptsTypes="AAA">
                                      <p:cBhvr>
                                        <p:cTn id="3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22222E-6 L -2.29167E-6 0.00023 C 0.03268 -0.00185 0.01159 -0.00116 0.06315 -0.00116 " pathEditMode="relative" rAng="0" ptsTypes="AAA">
                                      <p:cBhvr>
                                        <p:cTn id="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7037E-6 L 4.79167E-6 0.00024 C 0.03268 -0.00185 0.01158 -0.00115 0.06315 -0.00115 " pathEditMode="relative" rAng="0" ptsTypes="AAA">
                                      <p:cBhvr>
                                        <p:cTn id="4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3.125E-6 0.00023 C 0.03268 -0.00186 0.01159 -0.00116 0.06315 -0.00116 " pathEditMode="relative" rAng="0" ptsTypes="AAA">
                                      <p:cBhvr>
                                        <p:cTn id="4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7.40741E-7 L 4.58333E-6 0.00023 C 0.03268 -0.00185 0.01158 -0.00116 0.06315 -0.00116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33333E-6 L 2.08333E-6 0.00023 C 0.03268 -0.00185 0.01159 -0.00115 0.06315 -0.00115 " pathEditMode="relative" rAng="0" ptsTypes="AAA">
                                      <p:cBhvr>
                                        <p:cTn id="4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L 1.875E-6 0.00023 C 0.03268 -0.00185 0.01159 -0.00115 0.06315 -0.00115 " pathEditMode="relative" rAng="0" ptsTypes="AAA">
                                      <p:cBhvr>
                                        <p:cTn id="50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1.04167E-6 0.00023 C 0.03268 -0.00185 0.01159 -0.00116 0.06315 -0.00116 " pathEditMode="relative" rAng="0" ptsTypes="AAA">
                                      <p:cBhvr>
                                        <p:cTn id="5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59259E-6 L -2.29167E-6 0.00023 C 0.03268 -0.00185 0.01159 -0.00116 0.06315 -0.00116 " pathEditMode="relative" rAng="0" ptsTypes="AAA">
                                      <p:cBhvr>
                                        <p:cTn id="5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59259E-6 L 5E-6 0.00023 C 0.03269 -0.00185 0.01159 -0.00116 0.06316 -0.00116 " pathEditMode="relative" rAng="0" ptsTypes="AAA">
                                      <p:cBhvr>
                                        <p:cTn id="5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59259E-6 L 4.16667E-7 0.00023 C 0.03268 -0.00185 0.01159 -0.00116 0.06315 -0.00116 " pathEditMode="relative" rAng="0" ptsTypes="AAA">
                                      <p:cBhvr>
                                        <p:cTn id="5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3.33333E-6 0.00023 C 0.03268 -0.00185 0.01159 -0.00115 0.06315 -0.00115 " pathEditMode="relative" rAng="0" ptsTypes="AAA">
                                      <p:cBhvr>
                                        <p:cTn id="6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96296E-6 L -2.29167E-6 0.00023 C 0.03268 -0.00185 0.01159 -0.00115 0.06315 -0.00115 " pathEditMode="relative" rAng="0" ptsTypes="AAA">
                                      <p:cBhvr>
                                        <p:cTn id="6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22222E-6 L -2.91667E-6 0.00023 C 0.03269 -0.00185 0.01159 -0.00116 0.06315 -0.00116 " pathEditMode="relative" rAng="0" ptsTypes="AAA">
                                      <p:cBhvr>
                                        <p:cTn id="6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33333E-6 L 4.58333E-6 0.00023 C 0.03268 -0.00185 0.01158 -0.00115 0.06315 -0.00115 " pathEditMode="relative" rAng="0" ptsTypes="AAA">
                                      <p:cBhvr>
                                        <p:cTn id="6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59259E-6 L -2.5E-6 0.00023 C 0.03268 -0.00185 0.01159 -0.00116 0.06315 -0.00116 " pathEditMode="relative" rAng="0" ptsTypes="AAA">
                                      <p:cBhvr>
                                        <p:cTn id="6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2.08333E-7 0.00023 C 0.03268 -0.00185 0.01159 -0.00115 0.06315 -0.00115 " pathEditMode="relative" rAng="0" ptsTypes="AAA">
                                      <p:cBhvr>
                                        <p:cTn id="7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7.40741E-7 L -1.875E-6 0.00023 C 0.03268 -0.00185 0.01159 -0.00116 0.06315 -0.00116 " pathEditMode="relative" rAng="0" ptsTypes="AAA">
                                      <p:cBhvr>
                                        <p:cTn id="7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81481E-6 L -4.16667E-7 0.00023 C 0.03268 -0.00186 0.01159 -0.00116 0.06315 -0.00116 " pathEditMode="relative" rAng="0" ptsTypes="AAA">
                                      <p:cBhvr>
                                        <p:cTn id="7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-2.08333E-6 0.00023 C 0.03268 -0.00185 0.01159 -0.00116 0.06315 -0.00116 " pathEditMode="relative" rAng="0" ptsTypes="AAA">
                                      <p:cBhvr>
                                        <p:cTn id="7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1" grpId="0"/>
      <p:bldP spid="44" grpId="0"/>
      <p:bldP spid="46" grpId="0"/>
      <p:bldP spid="49" grpId="0" animBg="1"/>
      <p:bldP spid="60" grpId="0"/>
      <p:bldP spid="68" grpId="0" animBg="1"/>
      <p:bldP spid="37" grpId="0" animBg="1"/>
      <p:bldP spid="70" grpId="0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Description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3838835" y="3529044"/>
                <a:ext cx="4279890" cy="1572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/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/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835" y="3529044"/>
                <a:ext cx="4279890" cy="15721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1024128" y="2477493"/>
            <a:ext cx="2979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Initial Case: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908856" y="2257685"/>
                <a:ext cx="1641860" cy="1098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856" y="2257685"/>
                <a:ext cx="1641860" cy="109850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/>
          <p:cNvSpPr txBox="1"/>
          <p:nvPr/>
        </p:nvSpPr>
        <p:spPr>
          <a:xfrm>
            <a:off x="8196249" y="3941810"/>
            <a:ext cx="779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131076" y="3972588"/>
                <a:ext cx="179850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076" y="3972588"/>
                <a:ext cx="1798506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2557756" y="3972588"/>
            <a:ext cx="120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Then: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76338" y="5518004"/>
            <a:ext cx="1859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At last: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908856" y="5274059"/>
                <a:ext cx="2454198" cy="10111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856" y="5274059"/>
                <a:ext cx="2454198" cy="101111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80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Arrow Connector 63"/>
          <p:cNvCxnSpPr/>
          <p:nvPr/>
        </p:nvCxnSpPr>
        <p:spPr>
          <a:xfrm>
            <a:off x="3126207" y="2558061"/>
            <a:ext cx="0" cy="132992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</a:t>
            </a:r>
            <a:r>
              <a:rPr lang="en-US" dirty="0" smtClean="0"/>
              <a:t>Description (Cont.)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464831" y="2472483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64831" y="3947538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488043" y="5448373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590715" y="239429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688188" y="239429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4952031" y="239727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988309" y="239306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7206202" y="239306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9706379" y="239306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4590715" y="387250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5688188" y="387250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6791482" y="386627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7888955" y="387127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8986428" y="38594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10083901" y="387339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57" idx="4"/>
            <a:endCxn id="93" idx="0"/>
          </p:cNvCxnSpPr>
          <p:nvPr/>
        </p:nvCxnSpPr>
        <p:spPr>
          <a:xfrm>
            <a:off x="4664856" y="2542579"/>
            <a:ext cx="0" cy="132992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8" idx="4"/>
            <a:endCxn id="94" idx="0"/>
          </p:cNvCxnSpPr>
          <p:nvPr/>
        </p:nvCxnSpPr>
        <p:spPr>
          <a:xfrm>
            <a:off x="5026172" y="2545556"/>
            <a:ext cx="736157" cy="132695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5" idx="5"/>
            <a:endCxn id="95" idx="1"/>
          </p:cNvCxnSpPr>
          <p:nvPr/>
        </p:nvCxnSpPr>
        <p:spPr>
          <a:xfrm>
            <a:off x="5814754" y="2520864"/>
            <a:ext cx="998443" cy="1367124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1" idx="4"/>
            <a:endCxn id="96" idx="0"/>
          </p:cNvCxnSpPr>
          <p:nvPr/>
        </p:nvCxnSpPr>
        <p:spPr>
          <a:xfrm>
            <a:off x="7062450" y="2541347"/>
            <a:ext cx="900646" cy="132992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2" idx="4"/>
            <a:endCxn id="98" idx="0"/>
          </p:cNvCxnSpPr>
          <p:nvPr/>
        </p:nvCxnSpPr>
        <p:spPr>
          <a:xfrm>
            <a:off x="9780520" y="2541348"/>
            <a:ext cx="377522" cy="1332049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3700600" y="536927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4798073" y="536927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5901367" y="536304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6998840" y="536804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8090492" y="535621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9193786" y="537016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/>
          <p:cNvCxnSpPr>
            <a:stCxn id="97" idx="4"/>
            <a:endCxn id="103" idx="0"/>
          </p:cNvCxnSpPr>
          <p:nvPr/>
        </p:nvCxnSpPr>
        <p:spPr>
          <a:xfrm flipH="1">
            <a:off x="8164633" y="4007726"/>
            <a:ext cx="895936" cy="134848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3774741" y="4021678"/>
            <a:ext cx="890115" cy="134759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4" idx="4"/>
            <a:endCxn id="100" idx="0"/>
          </p:cNvCxnSpPr>
          <p:nvPr/>
        </p:nvCxnSpPr>
        <p:spPr>
          <a:xfrm flipH="1">
            <a:off x="4872214" y="4020787"/>
            <a:ext cx="890115" cy="134848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95" idx="4"/>
            <a:endCxn id="101" idx="0"/>
          </p:cNvCxnSpPr>
          <p:nvPr/>
        </p:nvCxnSpPr>
        <p:spPr>
          <a:xfrm flipH="1">
            <a:off x="5975508" y="4014554"/>
            <a:ext cx="890115" cy="134848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96" idx="4"/>
            <a:endCxn id="102" idx="0"/>
          </p:cNvCxnSpPr>
          <p:nvPr/>
        </p:nvCxnSpPr>
        <p:spPr>
          <a:xfrm flipH="1">
            <a:off x="7072981" y="4019556"/>
            <a:ext cx="890115" cy="134848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98" idx="4"/>
            <a:endCxn id="104" idx="0"/>
          </p:cNvCxnSpPr>
          <p:nvPr/>
        </p:nvCxnSpPr>
        <p:spPr>
          <a:xfrm flipH="1">
            <a:off x="9267927" y="4021678"/>
            <a:ext cx="890115" cy="134848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21585" y="2506742"/>
            <a:ext cx="1675375" cy="1361528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>
            <a:off x="7338034" y="2519659"/>
            <a:ext cx="1675375" cy="1361528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765655" y="4007726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654139" y="4010308"/>
            <a:ext cx="0" cy="2708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109939" y="4168321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39" y="4168321"/>
                <a:ext cx="196592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 flipH="1">
            <a:off x="4654141" y="4131571"/>
            <a:ext cx="110818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6868949" y="4007726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6213233" y="4168321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233" y="4168321"/>
                <a:ext cx="196592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/>
          <p:nvPr/>
        </p:nvCxnSpPr>
        <p:spPr>
          <a:xfrm flipH="1">
            <a:off x="5757435" y="4131571"/>
            <a:ext cx="110818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7968894" y="4007726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313178" y="4168321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178" y="4168321"/>
                <a:ext cx="196592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H="1">
            <a:off x="6857380" y="4131571"/>
            <a:ext cx="110818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9063895" y="4007726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408179" y="4168321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179" y="4168321"/>
                <a:ext cx="196592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>
            <a:off x="7952381" y="4131571"/>
            <a:ext cx="110818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10161368" y="4007726"/>
            <a:ext cx="0" cy="263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9505652" y="4168321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652" y="4168321"/>
                <a:ext cx="19659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/>
          <p:cNvCxnSpPr/>
          <p:nvPr/>
        </p:nvCxnSpPr>
        <p:spPr>
          <a:xfrm flipH="1">
            <a:off x="9049854" y="4131571"/>
            <a:ext cx="110818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052067" y="239865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052067" y="385939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161951" y="537016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2236092" y="4008617"/>
            <a:ext cx="890115" cy="134759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725293" y="3965557"/>
                <a:ext cx="196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293" y="3965557"/>
                <a:ext cx="196592" cy="430887"/>
              </a:xfrm>
              <a:prstGeom prst="rect">
                <a:avLst/>
              </a:prstGeom>
              <a:blipFill rotWithShape="0">
                <a:blip r:embed="rId7"/>
                <a:stretch>
                  <a:fillRect r="-18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45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5" grpId="0" animBg="1"/>
      <p:bldP spid="78" grpId="0" animBg="1"/>
      <p:bldP spid="81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41" grpId="0"/>
      <p:bldP spid="47" grpId="0"/>
      <p:bldP spid="50" grpId="0"/>
      <p:bldP spid="53" grpId="0"/>
      <p:bldP spid="58" grpId="0"/>
      <p:bldP spid="60" grpId="0" animBg="1"/>
      <p:bldP spid="61" grpId="0" animBg="1"/>
      <p:bldP spid="62" grpId="0" animBg="1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</a:t>
            </a:r>
            <a:r>
              <a:rPr lang="en-US" dirty="0" smtClean="0"/>
              <a:t>Description (Cont.)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306541" y="3288270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8" idx="4"/>
            <a:endCxn id="61" idx="0"/>
          </p:cNvCxnSpPr>
          <p:nvPr/>
        </p:nvCxnSpPr>
        <p:spPr>
          <a:xfrm flipH="1">
            <a:off x="3593239" y="3363490"/>
            <a:ext cx="911119" cy="951432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9" idx="4"/>
            <a:endCxn id="67" idx="7"/>
          </p:cNvCxnSpPr>
          <p:nvPr/>
        </p:nvCxnSpPr>
        <p:spPr>
          <a:xfrm flipH="1">
            <a:off x="2107015" y="3367847"/>
            <a:ext cx="858695" cy="969680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430217" y="321520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527690" y="321520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791533" y="321818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6827811" y="321397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045704" y="321397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545881" y="321397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891569" y="321956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>
            <a:off x="1306541" y="4394020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519098" y="431492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616571" y="431492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5719865" y="430868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6817338" y="431369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7908990" y="430186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012284" y="431581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980449" y="431581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>
            <a:stCxn id="47" idx="4"/>
            <a:endCxn id="65" idx="0"/>
          </p:cNvCxnSpPr>
          <p:nvPr/>
        </p:nvCxnSpPr>
        <p:spPr>
          <a:xfrm>
            <a:off x="7119845" y="3362258"/>
            <a:ext cx="863286" cy="939603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5" idx="4"/>
            <a:endCxn id="62" idx="0"/>
          </p:cNvCxnSpPr>
          <p:nvPr/>
        </p:nvCxnSpPr>
        <p:spPr>
          <a:xfrm flipH="1">
            <a:off x="4690712" y="3366467"/>
            <a:ext cx="174962" cy="948455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44" idx="4"/>
            <a:endCxn id="63" idx="0"/>
          </p:cNvCxnSpPr>
          <p:nvPr/>
        </p:nvCxnSpPr>
        <p:spPr>
          <a:xfrm>
            <a:off x="5601831" y="3363490"/>
            <a:ext cx="192175" cy="945199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6" idx="4"/>
            <a:endCxn id="64" idx="0"/>
          </p:cNvCxnSpPr>
          <p:nvPr/>
        </p:nvCxnSpPr>
        <p:spPr>
          <a:xfrm flipH="1">
            <a:off x="6891479" y="3362258"/>
            <a:ext cx="10473" cy="951433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48" idx="4"/>
            <a:endCxn id="66" idx="0"/>
          </p:cNvCxnSpPr>
          <p:nvPr/>
        </p:nvCxnSpPr>
        <p:spPr>
          <a:xfrm flipH="1">
            <a:off x="9086425" y="3362259"/>
            <a:ext cx="533597" cy="953554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4246456" y="5140947"/>
                <a:ext cx="340159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dirty="0" smtClean="0">
                    <a:latin typeface="FrankRuehl" panose="020E0503060101010101" pitchFamily="34" charset="-79"/>
                    <a:cs typeface="FrankRuehl" panose="020E0503060101010101" pitchFamily="34" charset="-79"/>
                  </a:rPr>
                  <a:t>Time: </a:t>
                </a:r>
                <a14:m>
                  <m:oMath xmlns:m="http://schemas.openxmlformats.org/officeDocument/2006/math"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 </m:t>
                    </m:r>
                  </m:oMath>
                </a14:m>
                <a:endParaRPr lang="en-US" sz="4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456" y="5140947"/>
                <a:ext cx="3401594" cy="1107996"/>
              </a:xfrm>
              <a:prstGeom prst="rect">
                <a:avLst/>
              </a:prstGeom>
              <a:blipFill rotWithShape="0">
                <a:blip r:embed="rId2"/>
                <a:stretch>
                  <a:fillRect l="-7348" b="-17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7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Cycle Version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37807" y="2755714"/>
            <a:ext cx="5395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The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difficulty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b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How to find a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cut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start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point 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the cycle</a:t>
            </a:r>
          </a:p>
        </p:txBody>
      </p:sp>
      <p:sp>
        <p:nvSpPr>
          <p:cNvPr id="7" name="Oval 6"/>
          <p:cNvSpPr/>
          <p:nvPr/>
        </p:nvSpPr>
        <p:spPr>
          <a:xfrm>
            <a:off x="6344331" y="2110956"/>
            <a:ext cx="3889253" cy="38892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631070" y="211095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397187" y="204888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0125020" y="367921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344330" y="35309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875553" y="579331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121637" y="436560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6270190" y="414223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8009982" y="592606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8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sp>
        <p:nvSpPr>
          <p:cNvPr id="4" name="Line Callout 1 (Accent Bar) 3"/>
          <p:cNvSpPr/>
          <p:nvPr/>
        </p:nvSpPr>
        <p:spPr>
          <a:xfrm>
            <a:off x="1040528" y="1984722"/>
            <a:ext cx="1341646" cy="548023"/>
          </a:xfrm>
          <a:prstGeom prst="accentCallout1">
            <a:avLst>
              <a:gd name="adj1" fmla="val 48230"/>
              <a:gd name="adj2" fmla="val 104118"/>
              <a:gd name="adj3" fmla="val 102592"/>
              <a:gd name="adj4" fmla="val 12759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tart point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Callout 1 (Accent Bar) 54"/>
          <p:cNvSpPr/>
          <p:nvPr/>
        </p:nvSpPr>
        <p:spPr>
          <a:xfrm>
            <a:off x="4945171" y="5695882"/>
            <a:ext cx="1631207" cy="548023"/>
          </a:xfrm>
          <a:prstGeom prst="accentCallout1">
            <a:avLst>
              <a:gd name="adj1" fmla="val 48230"/>
              <a:gd name="adj2" fmla="val 104118"/>
              <a:gd name="adj3" fmla="val -182882"/>
              <a:gd name="adj4" fmla="val 11444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last point not moved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404352" y="2521968"/>
            <a:ext cx="3889253" cy="38892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2691091" y="2521968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3457208" y="245989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5185041" y="409022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404351" y="394194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935574" y="620432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5181658" y="477661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330211" y="455324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070003" y="633708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6815230" y="2521968"/>
            <a:ext cx="3889253" cy="38892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01969" y="2521968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9583877" y="267143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0595919" y="4090228"/>
            <a:ext cx="148281" cy="14828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7152980" y="320830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9161725" y="626293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0279498" y="549330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741089" y="4553246"/>
            <a:ext cx="148281" cy="14828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7676546" y="60560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 rot="3239464">
            <a:off x="7493096" y="2196129"/>
            <a:ext cx="197708" cy="1197768"/>
          </a:xfrm>
          <a:prstGeom prst="leftBrace">
            <a:avLst>
              <a:gd name="adj1" fmla="val 5008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65082" y="2258733"/>
                <a:ext cx="8595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082" y="2258733"/>
                <a:ext cx="85953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c 16"/>
          <p:cNvSpPr/>
          <p:nvPr/>
        </p:nvSpPr>
        <p:spPr>
          <a:xfrm rot="20254460">
            <a:off x="2147487" y="2290775"/>
            <a:ext cx="1895475" cy="1467615"/>
          </a:xfrm>
          <a:prstGeom prst="arc">
            <a:avLst>
              <a:gd name="adj1" fmla="val 16200000"/>
              <a:gd name="adj2" fmla="val 19548385"/>
            </a:avLst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ine Callout 1 (Accent Bar) 25"/>
          <p:cNvSpPr/>
          <p:nvPr/>
        </p:nvSpPr>
        <p:spPr>
          <a:xfrm>
            <a:off x="10888781" y="2785497"/>
            <a:ext cx="956271" cy="748405"/>
          </a:xfrm>
          <a:prstGeom prst="accentCallout1">
            <a:avLst>
              <a:gd name="adj1" fmla="val 51323"/>
              <a:gd name="adj2" fmla="val -5286"/>
              <a:gd name="adj3" fmla="val 175237"/>
              <a:gd name="adj4" fmla="val -2079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idn’t </a:t>
            </a:r>
            <a:r>
              <a:rPr lang="en-US" sz="20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1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4D1E2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5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8" grpId="0" animBg="1"/>
      <p:bldP spid="9" grpId="0"/>
      <p:bldP spid="17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6867416" y="2173680"/>
            <a:ext cx="3889253" cy="38892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411330" y="2135580"/>
            <a:ext cx="148281" cy="148281"/>
          </a:xfrm>
          <a:prstGeom prst="ellipse">
            <a:avLst/>
          </a:prstGeom>
          <a:solidFill>
            <a:srgbClr val="0070C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902763" y="2494601"/>
            <a:ext cx="148281" cy="148281"/>
          </a:xfrm>
          <a:prstGeom prst="ellipse">
            <a:avLst/>
          </a:prstGeom>
          <a:solidFill>
            <a:srgbClr val="0070C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0648105" y="3741940"/>
            <a:ext cx="148281" cy="14828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205166" y="286001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9213911" y="591465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331684" y="514502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6793275" y="4204958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728732" y="570775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418805" y="2173681"/>
            <a:ext cx="3889253" cy="38892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705544" y="217368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187452" y="232315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5199494" y="3741941"/>
            <a:ext cx="148281" cy="14828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756555" y="286001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765300" y="591465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883073" y="514502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344664" y="420495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280121" y="57077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/>
          <p:cNvSpPr/>
          <p:nvPr/>
        </p:nvSpPr>
        <p:spPr>
          <a:xfrm rot="19667837">
            <a:off x="6997960" y="4331622"/>
            <a:ext cx="215669" cy="1775077"/>
          </a:xfrm>
          <a:prstGeom prst="leftBrace">
            <a:avLst>
              <a:gd name="adj1" fmla="val 5008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6307887" y="5128792"/>
                <a:ext cx="8595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887" y="5128792"/>
                <a:ext cx="85953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327138" y="5876053"/>
                <a:ext cx="340159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dirty="0" smtClean="0">
                    <a:latin typeface="FrankRuehl" panose="020E0503060101010101" pitchFamily="34" charset="-79"/>
                    <a:cs typeface="FrankRuehl" panose="020E0503060101010101" pitchFamily="34" charset="-79"/>
                  </a:rPr>
                  <a:t>Time: </a:t>
                </a:r>
                <a14:m>
                  <m:oMath xmlns:m="http://schemas.openxmlformats.org/officeDocument/2006/math"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  <m:r>
                      <a:rPr lang="en-US" sz="4400" b="1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 </m:t>
                    </m:r>
                  </m:oMath>
                </a14:m>
                <a:endParaRPr lang="en-US" sz="4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138" y="5876053"/>
                <a:ext cx="3401594" cy="1107996"/>
              </a:xfrm>
              <a:prstGeom prst="rect">
                <a:avLst/>
              </a:prstGeom>
              <a:blipFill rotWithShape="0">
                <a:blip r:embed="rId3"/>
                <a:stretch>
                  <a:fillRect l="-7348" b="-17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</a:t>
            </a:r>
            <a:r>
              <a:rPr lang="en-US" sz="3200" cap="none" dirty="0" smtClean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 we start from the last point which did not move, our algorithm can solve the cycle version successfully</a:t>
            </a:r>
            <a:endParaRPr lang="en-US" sz="3200" cap="none" dirty="0">
              <a:solidFill>
                <a:schemeClr val="tx1"/>
              </a:solidFill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9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7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21" grpId="0" animBg="1"/>
      <p:bldP spid="22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cap="none" dirty="0" smtClean="0"/>
              <a:t>The Facility-location Movement Problem</a:t>
            </a:r>
            <a:endParaRPr lang="en-US" sz="3600" cap="none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152268" y="2710335"/>
            <a:ext cx="953117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547914" y="263619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371702" y="2636193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01810" y="263619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900339" y="263619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467327" y="2636193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953477" y="2636193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038630" y="263619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527539" y="26321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45783" y="263214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614714" y="262809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529149" y="3424868"/>
                <a:ext cx="8898924" cy="586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servers</a:t>
                </a:r>
                <a:r>
                  <a:rPr lang="en-US" sz="2400" b="1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sz="2400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 clients </a:t>
                </a:r>
                <a:r>
                  <a:rPr lang="en-US" sz="2400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on a </a:t>
                </a:r>
                <a:r>
                  <a:rPr lang="en-US" sz="2400" b="1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line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b="1" dirty="0" smtClean="0">
                    <a:latin typeface="Consolas" panose="020B0609020204030204" pitchFamily="49" charset="0"/>
                    <a:ea typeface="Verdana" panose="020B0604030504040204" pitchFamily="34" charset="0"/>
                    <a:cs typeface="Consolas" panose="020B06090202040302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149" y="3424868"/>
                <a:ext cx="8898924" cy="586507"/>
              </a:xfrm>
              <a:prstGeom prst="rect">
                <a:avLst/>
              </a:prstGeom>
              <a:blipFill rotWithShape="0">
                <a:blip r:embed="rId2"/>
                <a:stretch>
                  <a:fillRect l="-959" b="-23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529148" y="4142030"/>
            <a:ext cx="89658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Move these servers and clients to make </a:t>
            </a:r>
            <a:r>
              <a:rPr lang="en-US" sz="2400" b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each client co-locate with a </a:t>
            </a:r>
            <a:r>
              <a:rPr lang="en-US" sz="2400" b="1" dirty="0" smtClean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server</a:t>
            </a:r>
            <a:endParaRPr lang="en-US" sz="2400" b="1" dirty="0">
              <a:latin typeface="Consolas" panose="020B0609020204030204" pitchFamily="49" charset="0"/>
              <a:ea typeface="Verdana" panose="020B0604030504040204" pitchFamily="34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9148" y="5342359"/>
            <a:ext cx="8898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Minimize</a:t>
            </a:r>
            <a:r>
              <a:rPr lang="en-US" sz="2400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 the </a:t>
            </a:r>
            <a:r>
              <a:rPr lang="en-US" sz="2400" b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maximum moving distance </a:t>
            </a:r>
            <a:r>
              <a:rPr lang="en-US" sz="2400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of servers and clients</a:t>
            </a:r>
          </a:p>
        </p:txBody>
      </p:sp>
    </p:spTree>
    <p:extLst>
      <p:ext uri="{BB962C8B-B14F-4D97-AF65-F5344CB8AC3E}">
        <p14:creationId xmlns:p14="http://schemas.microsoft.com/office/powerpoint/2010/main" val="313500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11111E-6 L -0.04063 1.11111E-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11111E-6 L -0.02695 1.11111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4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11111E-6 L 0.06979 1.11111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-0.06953 1.11111E-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7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111E-6 L -0.07656 1.11111E-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8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-0.08164 1.11111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9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0.07553 1.11111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76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44444E-6 L 0.03542 0.0007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2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48148E-6 L 0.0763 0.0004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3" grpId="1" animBg="1"/>
      <p:bldP spid="25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Previous Work And Our Results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3865483" y="2594854"/>
            <a:ext cx="71700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Dumitrescu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and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Jiang (2011) solved the problem by </a:t>
            </a:r>
            <a:r>
              <a:rPr lang="en-US" sz="28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dynamic programming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65483" y="3842712"/>
                <a:ext cx="4704775" cy="5786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𝒏</m:t>
                            </m:r>
                            <m:r>
                              <a:rPr lang="en-US" sz="2800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800" b="1" i="1">
                                <a:latin typeface="Cambria Math"/>
                              </a:rPr>
                              <m:t>𝒌</m:t>
                            </m:r>
                          </m:e>
                        </m:d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800" b="1" i="0">
                                <a:latin typeface="Cambria Math"/>
                              </a:rPr>
                              <m:t>𝐥𝐨𝐠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en-US" sz="2800" b="1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800" b="1" i="1">
                                    <a:latin typeface="Cambria Math"/>
                                  </a:rPr>
                                  <m:t>𝒌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time</a:t>
                </a:r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483" y="3842712"/>
                <a:ext cx="4704775" cy="578685"/>
              </a:xfrm>
              <a:prstGeom prst="rect">
                <a:avLst/>
              </a:prstGeom>
              <a:blipFill rotWithShape="0">
                <a:blip r:embed="rId2"/>
                <a:stretch>
                  <a:fillRect t="-5263" r="-1425" b="-2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34500" y="4862345"/>
                <a:ext cx="26455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𝑶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𝒏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𝒌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 </m:t>
                    </m:r>
                  </m:oMath>
                </a14:m>
                <a:r>
                  <a:rPr lang="en-US" sz="28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time</a:t>
                </a:r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500" y="4862345"/>
                <a:ext cx="2645594" cy="523220"/>
              </a:xfrm>
              <a:prstGeom prst="rect">
                <a:avLst/>
              </a:prstGeom>
              <a:blipFill rotWithShape="0"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223413" y="2583520"/>
            <a:ext cx="2642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Previous work: 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3550" y="4795879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results: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3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4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cap="none" dirty="0" smtClean="0"/>
              <a:t>Reducing The Problem To An Interval Coverage Problem</a:t>
            </a:r>
            <a:endParaRPr lang="en-US" sz="3600" cap="none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112929" y="2687611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8" idx="2"/>
          </p:cNvCxnSpPr>
          <p:nvPr/>
        </p:nvCxnSpPr>
        <p:spPr>
          <a:xfrm>
            <a:off x="4651065" y="2684314"/>
            <a:ext cx="1776923" cy="329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12700" dir="5400000" algn="ctr" rotWithShape="0">
              <a:srgbClr val="000000">
                <a:alpha val="50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427988" y="261346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06444" y="260942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575375" y="260537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249164" y="3213579"/>
                <a:ext cx="340035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 intervals</a:t>
                </a:r>
                <a:endParaRPr lang="en-US" sz="28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164" y="3213579"/>
                <a:ext cx="3400351" cy="738664"/>
              </a:xfrm>
              <a:prstGeom prst="rect">
                <a:avLst/>
              </a:prstGeom>
              <a:blipFill rotWithShape="0">
                <a:blip r:embed="rId2"/>
                <a:stretch>
                  <a:fillRect l="-3763" r="-1434" b="-13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649986" y="5511574"/>
            <a:ext cx="7547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Minimize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the length of the </a:t>
            </a:r>
            <a:r>
              <a:rPr lang="en-US" sz="24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longest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interval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533943" y="4045493"/>
            <a:ext cx="117051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s.t.</a:t>
            </a:r>
            <a:r>
              <a:rPr lang="en-US" sz="28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49986" y="4224947"/>
            <a:ext cx="54857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Each interval covers one server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2196063" y="2687791"/>
            <a:ext cx="1776923" cy="329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12700" dir="5400000" algn="ctr" rotWithShape="0">
              <a:srgbClr val="000000">
                <a:alpha val="50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508575" y="261347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332363" y="261346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62471" y="261346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861000" y="261346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/>
          <p:nvPr/>
        </p:nvCxnSpPr>
        <p:spPr>
          <a:xfrm>
            <a:off x="8135715" y="2684314"/>
            <a:ext cx="1776923" cy="329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12700" dir="5400000" algn="ctr" rotWithShape="0">
              <a:srgbClr val="000000">
                <a:alpha val="50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914138" y="261346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999291" y="261346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488200" y="260942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322387" y="2605372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649987" y="4776168"/>
            <a:ext cx="83096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Each client is covered by at least one interval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32835" y="5573129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Object: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0255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  <p:bldP spid="27" grpId="0"/>
      <p:bldP spid="35" grpId="0"/>
      <p:bldP spid="47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 Dynamic Programming Approach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024128" y="3959043"/>
                <a:ext cx="1010110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Subproblem: For each client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𝑞</m:t>
                    </m:r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, covers all points to the left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𝑞</m:t>
                    </m:r>
                  </m:oMath>
                </a14:m>
                <a:endParaRPr lang="en-US" sz="2000" dirty="0" smtClean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𝛼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: The length of the longest interval in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𝑂𝑃𝑇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for the </a:t>
                </a:r>
                <a:r>
                  <a:rPr lang="en-US" sz="2000" dirty="0" err="1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subproblem</a:t>
                </a:r>
                <a:endParaRPr lang="en-US" sz="2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3959043"/>
                <a:ext cx="10101103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60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>
            <a:off x="1223349" y="2796601"/>
            <a:ext cx="990188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816115" y="272245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894571" y="271841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963502" y="271436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Left Brace 53"/>
          <p:cNvSpPr/>
          <p:nvPr/>
        </p:nvSpPr>
        <p:spPr>
          <a:xfrm rot="5400000">
            <a:off x="7117231" y="1834504"/>
            <a:ext cx="223552" cy="1465797"/>
          </a:xfrm>
          <a:prstGeom prst="leftBrace">
            <a:avLst>
              <a:gd name="adj1" fmla="val 3167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2896702" y="272246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720490" y="272245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550598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249127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9302265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7387418" y="27224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7876327" y="27184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710514" y="2714362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10337596" y="27208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1834610" y="272081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7071651" y="2091776"/>
                <a:ext cx="2908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651" y="2091776"/>
                <a:ext cx="29081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4583" r="-47917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9183939" y="2951074"/>
                <a:ext cx="444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939" y="2951074"/>
                <a:ext cx="44403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Oval 99"/>
          <p:cNvSpPr/>
          <p:nvPr/>
        </p:nvSpPr>
        <p:spPr>
          <a:xfrm>
            <a:off x="6450389" y="27133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1589821" y="3410915"/>
            <a:ext cx="429571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483766" y="3410915"/>
            <a:ext cx="285368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 118"/>
              <p:cNvSpPr/>
              <p:nvPr/>
            </p:nvSpPr>
            <p:spPr>
              <a:xfrm>
                <a:off x="5682360" y="2940882"/>
                <a:ext cx="5304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360" y="2940882"/>
                <a:ext cx="530402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Rectangle 122"/>
              <p:cNvSpPr/>
              <p:nvPr/>
            </p:nvSpPr>
            <p:spPr>
              <a:xfrm>
                <a:off x="6323570" y="2957204"/>
                <a:ext cx="4449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570" y="2957204"/>
                <a:ext cx="44493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Rectangle 125"/>
              <p:cNvSpPr/>
              <p:nvPr/>
            </p:nvSpPr>
            <p:spPr>
              <a:xfrm>
                <a:off x="2824029" y="5348581"/>
                <a:ext cx="6285631" cy="9348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∈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𝑄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max</m:t>
                                      </m:r>
                                    </m:e>
                                    <m:lim/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𝛼</m:t>
                                      </m:r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,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029" y="5348581"/>
                <a:ext cx="6285631" cy="93480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Rectangle 126"/>
              <p:cNvSpPr/>
              <p:nvPr/>
            </p:nvSpPr>
            <p:spPr>
              <a:xfrm>
                <a:off x="7337032" y="2971865"/>
                <a:ext cx="11762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,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032" y="2971865"/>
                <a:ext cx="1176283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015719" y="2187851"/>
                <a:ext cx="8931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719" y="2187851"/>
                <a:ext cx="893129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5513660" y="2196257"/>
                <a:ext cx="9794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60" y="2196257"/>
                <a:ext cx="979499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34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8" grpId="0" animBg="1"/>
      <p:bldP spid="54" grpId="0" animBg="1"/>
      <p:bldP spid="72" grpId="0" animBg="1"/>
      <p:bldP spid="96" grpId="0"/>
      <p:bldP spid="98" grpId="0"/>
      <p:bldP spid="119" grpId="0"/>
      <p:bldP spid="123" grpId="0"/>
      <p:bldP spid="126" grpId="0"/>
      <p:bldP spid="127" grpId="0"/>
      <p:bldP spid="4" grpId="0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/>
          <p:cNvCxnSpPr/>
          <p:nvPr/>
        </p:nvCxnSpPr>
        <p:spPr>
          <a:xfrm>
            <a:off x="6102735" y="5941388"/>
            <a:ext cx="393301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7056120" y="6147128"/>
            <a:ext cx="2991973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604623" y="6352868"/>
            <a:ext cx="244347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smtClean="0"/>
              <a:t>Our Improvement</a:t>
            </a:r>
            <a:endParaRPr lang="en-US" cap="none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842318" y="5330027"/>
            <a:ext cx="990188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435084" y="5255885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513540" y="525183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2471" y="524778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 rot="5400000">
            <a:off x="6736200" y="4367930"/>
            <a:ext cx="223552" cy="1465797"/>
          </a:xfrm>
          <a:prstGeom prst="leftBrace">
            <a:avLst>
              <a:gd name="adj1" fmla="val 3167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515671" y="525588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339459" y="5255885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169567" y="525588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868096" y="525588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921234" y="525588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006387" y="525588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495296" y="525183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329483" y="5247788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956565" y="525423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453579" y="525423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611608" y="4588480"/>
                <a:ext cx="4870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𝑄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608" y="4588480"/>
                <a:ext cx="487056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825737" y="5482073"/>
                <a:ext cx="444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737" y="5482073"/>
                <a:ext cx="444032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6069358" y="524676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208790" y="5944341"/>
            <a:ext cx="429571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102735" y="5944341"/>
            <a:ext cx="285368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221133" y="6150081"/>
            <a:ext cx="489394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047615" y="6150081"/>
            <a:ext cx="192114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221133" y="6355821"/>
            <a:ext cx="582648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604623" y="6355821"/>
            <a:ext cx="136414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860811" y="4069080"/>
            <a:ext cx="3987789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4137660" y="1924812"/>
            <a:ext cx="0" cy="246430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4602480" y="2255520"/>
            <a:ext cx="2849880" cy="1584960"/>
          </a:xfrm>
          <a:custGeom>
            <a:avLst/>
            <a:gdLst>
              <a:gd name="connsiteX0" fmla="*/ 0 w 2849880"/>
              <a:gd name="connsiteY0" fmla="*/ 1584960 h 1584960"/>
              <a:gd name="connsiteX1" fmla="*/ 899160 w 2849880"/>
              <a:gd name="connsiteY1" fmla="*/ 1379220 h 1584960"/>
              <a:gd name="connsiteX2" fmla="*/ 1584960 w 2849880"/>
              <a:gd name="connsiteY2" fmla="*/ 1112520 h 1584960"/>
              <a:gd name="connsiteX3" fmla="*/ 2072640 w 2849880"/>
              <a:gd name="connsiteY3" fmla="*/ 784860 h 1584960"/>
              <a:gd name="connsiteX4" fmla="*/ 2636520 w 2849880"/>
              <a:gd name="connsiteY4" fmla="*/ 175260 h 1584960"/>
              <a:gd name="connsiteX5" fmla="*/ 2849880 w 2849880"/>
              <a:gd name="connsiteY5" fmla="*/ 0 h 15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9880" h="1584960">
                <a:moveTo>
                  <a:pt x="0" y="1584960"/>
                </a:moveTo>
                <a:cubicBezTo>
                  <a:pt x="317500" y="1521460"/>
                  <a:pt x="635000" y="1457960"/>
                  <a:pt x="899160" y="1379220"/>
                </a:cubicBezTo>
                <a:cubicBezTo>
                  <a:pt x="1163320" y="1300480"/>
                  <a:pt x="1389380" y="1211580"/>
                  <a:pt x="1584960" y="1112520"/>
                </a:cubicBezTo>
                <a:cubicBezTo>
                  <a:pt x="1780540" y="1013460"/>
                  <a:pt x="1897380" y="941070"/>
                  <a:pt x="2072640" y="784860"/>
                </a:cubicBezTo>
                <a:cubicBezTo>
                  <a:pt x="2247900" y="628650"/>
                  <a:pt x="2506980" y="306070"/>
                  <a:pt x="2636520" y="175260"/>
                </a:cubicBezTo>
                <a:cubicBezTo>
                  <a:pt x="2766060" y="44450"/>
                  <a:pt x="2813050" y="30480"/>
                  <a:pt x="2849880" y="0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4563371" y="2656811"/>
            <a:ext cx="2582667" cy="1150620"/>
          </a:xfrm>
          <a:custGeom>
            <a:avLst/>
            <a:gdLst>
              <a:gd name="connsiteX0" fmla="*/ 0 w 1866900"/>
              <a:gd name="connsiteY0" fmla="*/ 0 h 1150620"/>
              <a:gd name="connsiteX1" fmla="*/ 327660 w 1866900"/>
              <a:gd name="connsiteY1" fmla="*/ 350520 h 1150620"/>
              <a:gd name="connsiteX2" fmla="*/ 716280 w 1866900"/>
              <a:gd name="connsiteY2" fmla="*/ 678180 h 1150620"/>
              <a:gd name="connsiteX3" fmla="*/ 1447800 w 1866900"/>
              <a:gd name="connsiteY3" fmla="*/ 1013460 h 1150620"/>
              <a:gd name="connsiteX4" fmla="*/ 1866900 w 1866900"/>
              <a:gd name="connsiteY4" fmla="*/ 1150620 h 115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150620">
                <a:moveTo>
                  <a:pt x="0" y="0"/>
                </a:moveTo>
                <a:cubicBezTo>
                  <a:pt x="104140" y="118745"/>
                  <a:pt x="208280" y="237490"/>
                  <a:pt x="327660" y="350520"/>
                </a:cubicBezTo>
                <a:cubicBezTo>
                  <a:pt x="447040" y="463550"/>
                  <a:pt x="529590" y="567690"/>
                  <a:pt x="716280" y="678180"/>
                </a:cubicBezTo>
                <a:cubicBezTo>
                  <a:pt x="902970" y="788670"/>
                  <a:pt x="1256030" y="934720"/>
                  <a:pt x="1447800" y="1013460"/>
                </a:cubicBezTo>
                <a:cubicBezTo>
                  <a:pt x="1639570" y="1092200"/>
                  <a:pt x="1753235" y="1121410"/>
                  <a:pt x="1866900" y="1150620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/>
              <p:cNvSpPr/>
              <p:nvPr/>
            </p:nvSpPr>
            <p:spPr>
              <a:xfrm>
                <a:off x="7284953" y="1842908"/>
                <a:ext cx="9794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953" y="1842908"/>
                <a:ext cx="97949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/>
              <p:cNvSpPr/>
              <p:nvPr/>
            </p:nvSpPr>
            <p:spPr>
              <a:xfrm>
                <a:off x="4279286" y="1835386"/>
                <a:ext cx="11762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286" y="1835386"/>
                <a:ext cx="1176283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Notched Right Arrow 52"/>
          <p:cNvSpPr/>
          <p:nvPr/>
        </p:nvSpPr>
        <p:spPr>
          <a:xfrm>
            <a:off x="6008089" y="4199587"/>
            <a:ext cx="411480" cy="1905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/>
              <p:cNvSpPr/>
              <p:nvPr/>
            </p:nvSpPr>
            <p:spPr>
              <a:xfrm>
                <a:off x="5329041" y="5486557"/>
                <a:ext cx="5304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041" y="5486557"/>
                <a:ext cx="530402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/>
              <p:cNvSpPr/>
              <p:nvPr/>
            </p:nvSpPr>
            <p:spPr>
              <a:xfrm>
                <a:off x="5970251" y="5502879"/>
                <a:ext cx="4449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251" y="5502879"/>
                <a:ext cx="44493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/>
              <p:cNvSpPr/>
              <p:nvPr/>
            </p:nvSpPr>
            <p:spPr>
              <a:xfrm>
                <a:off x="6983713" y="5517540"/>
                <a:ext cx="11762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,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713" y="5517540"/>
                <a:ext cx="1176283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Freeform 58"/>
          <p:cNvSpPr/>
          <p:nvPr/>
        </p:nvSpPr>
        <p:spPr>
          <a:xfrm>
            <a:off x="4571996" y="2667005"/>
            <a:ext cx="2582671" cy="1150620"/>
          </a:xfrm>
          <a:custGeom>
            <a:avLst/>
            <a:gdLst>
              <a:gd name="connsiteX0" fmla="*/ 0 w 1866900"/>
              <a:gd name="connsiteY0" fmla="*/ 0 h 1150620"/>
              <a:gd name="connsiteX1" fmla="*/ 327660 w 1866900"/>
              <a:gd name="connsiteY1" fmla="*/ 350520 h 1150620"/>
              <a:gd name="connsiteX2" fmla="*/ 716280 w 1866900"/>
              <a:gd name="connsiteY2" fmla="*/ 678180 h 1150620"/>
              <a:gd name="connsiteX3" fmla="*/ 1447800 w 1866900"/>
              <a:gd name="connsiteY3" fmla="*/ 1013460 h 1150620"/>
              <a:gd name="connsiteX4" fmla="*/ 1866900 w 1866900"/>
              <a:gd name="connsiteY4" fmla="*/ 1150620 h 115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150620">
                <a:moveTo>
                  <a:pt x="0" y="0"/>
                </a:moveTo>
                <a:cubicBezTo>
                  <a:pt x="104140" y="118745"/>
                  <a:pt x="208280" y="237490"/>
                  <a:pt x="327660" y="350520"/>
                </a:cubicBezTo>
                <a:cubicBezTo>
                  <a:pt x="447040" y="463550"/>
                  <a:pt x="529590" y="567690"/>
                  <a:pt x="716280" y="678180"/>
                </a:cubicBezTo>
                <a:cubicBezTo>
                  <a:pt x="902970" y="788670"/>
                  <a:pt x="1256030" y="934720"/>
                  <a:pt x="1447800" y="1013460"/>
                </a:cubicBezTo>
                <a:cubicBezTo>
                  <a:pt x="1639570" y="1092200"/>
                  <a:pt x="1753235" y="1121410"/>
                  <a:pt x="1866900" y="1150620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/>
              <p:cNvSpPr/>
              <p:nvPr/>
            </p:nvSpPr>
            <p:spPr>
              <a:xfrm>
                <a:off x="7643577" y="4070906"/>
                <a:ext cx="4449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77" y="4070906"/>
                <a:ext cx="44493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5880598" y="3429570"/>
            <a:ext cx="98968" cy="989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6445198" y="3138570"/>
            <a:ext cx="98968" cy="989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0.08372 0.00093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0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81481E-6 L 6.25E-7 -0.06875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45" grpId="0" animBg="1"/>
      <p:bldP spid="46" grpId="0" animBg="1"/>
      <p:bldP spid="48" grpId="0"/>
      <p:bldP spid="49" grpId="0"/>
      <p:bldP spid="53" grpId="0" animBg="1"/>
      <p:bldP spid="52" grpId="0"/>
      <p:bldP spid="57" grpId="0"/>
      <p:bldP spid="58" grpId="0"/>
      <p:bldP spid="59" grpId="0" animBg="1"/>
      <p:bldP spid="59" grpId="1" animBg="1"/>
      <p:bldP spid="60" grpId="0"/>
      <p:bldP spid="50" grpId="0" animBg="1"/>
      <p:bldP spid="5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4613560"/>
                  </p:ext>
                </p:extLst>
              </p:nvPr>
            </p:nvGraphicFramePr>
            <p:xfrm>
              <a:off x="1470212" y="2720588"/>
              <a:ext cx="9063319" cy="262128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756544"/>
                    <a:gridCol w="1756544"/>
                    <a:gridCol w="1742101"/>
                    <a:gridCol w="3808130"/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Points Spreading Problem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Facility-location</a:t>
                          </a:r>
                          <a:r>
                            <a:rPr lang="en-US" sz="2000" dirty="0" smtClean="0"/>
                            <a:t> Movement Problem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</a:t>
                          </a:r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Version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Cycle</a:t>
                          </a:r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Version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kern="12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Previous</a:t>
                          </a:r>
                          <a:endParaRPr lang="en-US" sz="2800" kern="12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Linear</a:t>
                          </a:r>
                          <a:r>
                            <a:rPr lang="en-US" sz="2000" baseline="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Programming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Linear</a:t>
                          </a:r>
                          <a:r>
                            <a:rPr lang="en-US" sz="2000" baseline="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Programming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smtClean="0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  <m:r>
                                          <a:rPr lang="en-US" sz="2800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en-US" sz="2800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800" smtClean="0">
                                            <a:latin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8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smtClean="0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2800" smtClean="0"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800" smtClean="0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Ours</a:t>
                          </a:r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smtClean="0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smtClean="0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smtClean="0">
                                    <a:latin typeface="Cambria Math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800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2800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4613560"/>
                  </p:ext>
                </p:extLst>
              </p:nvPr>
            </p:nvGraphicFramePr>
            <p:xfrm>
              <a:off x="1470212" y="2720588"/>
              <a:ext cx="9063319" cy="262128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756544"/>
                    <a:gridCol w="1756544"/>
                    <a:gridCol w="1742101"/>
                    <a:gridCol w="3808130"/>
                  </a:tblGrid>
                  <a:tr h="701040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Points Spreading Problem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Facility-location</a:t>
                          </a:r>
                          <a:r>
                            <a:rPr lang="en-US" sz="2000" dirty="0" smtClean="0"/>
                            <a:t> Movement Problem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</a:tr>
                  <a:tr h="70104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</a:t>
                          </a:r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Version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Cycle</a:t>
                          </a:r>
                          <a:r>
                            <a:rPr lang="en-US" sz="20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Version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>
                            <a:solidFill>
                              <a:srgbClr val="00206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kern="12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Previous</a:t>
                          </a:r>
                          <a:endParaRPr lang="en-US" sz="2800" kern="12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ea typeface="+mn-ea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Linear</a:t>
                          </a:r>
                          <a:r>
                            <a:rPr lang="en-US" sz="2000" baseline="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Programming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Linear</a:t>
                          </a:r>
                          <a:r>
                            <a:rPr lang="en-US" sz="2000" baseline="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Programming</a:t>
                          </a:r>
                          <a:endParaRPr lang="en-US" sz="2000" dirty="0">
                            <a:solidFill>
                              <a:srgbClr val="00206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38080" t="-205217" r="-640" b="-97391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 smtClean="0">
                              <a:solidFill>
                                <a:srgbClr val="00206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Ours</a:t>
                          </a:r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347" t="-412941" r="-317708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748" t="-412941" r="-219930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38080" t="-412941" r="-640" b="-3176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410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118575" y="3913451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72816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1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18575" y="5388506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82552" y="2199485"/>
            <a:ext cx="8349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The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of points does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change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042730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3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418469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2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66989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4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851228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5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129676" y="3714899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6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2427005" y="5175448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1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844178" y="5183068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3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634348" y="5189954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2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06703" y="5175448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4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258864" y="5189954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5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511025" y="5175448"/>
            <a:ext cx="397104" cy="39710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6</a:t>
            </a: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1.85185E-6 L -0.02995 -1.8518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85185E-6 L 0.01771 -1.85185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-0.02344 -1.85185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-0.03164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9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03294 -1.85185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85185E-6 L 0.03073 -1.85185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118575" y="3913451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71340" y="38331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62659" y="3833158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1396" y="383219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177400" y="3839310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471191" y="3832676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179723" y="383380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118575" y="5388506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78455" y="530588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376379" y="5312060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841396" y="532091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576412" y="5307320"/>
            <a:ext cx="148281" cy="148281"/>
          </a:xfrm>
          <a:prstGeom prst="ellipse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487193" y="530588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188249" y="53290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0" idx="3"/>
            <a:endCxn id="17" idx="7"/>
          </p:cNvCxnSpPr>
          <p:nvPr/>
        </p:nvCxnSpPr>
        <p:spPr>
          <a:xfrm flipH="1">
            <a:off x="4702978" y="3965876"/>
            <a:ext cx="496137" cy="1363159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5"/>
            <a:endCxn id="15" idx="1"/>
          </p:cNvCxnSpPr>
          <p:nvPr/>
        </p:nvCxnSpPr>
        <p:spPr>
          <a:xfrm>
            <a:off x="5889225" y="3959724"/>
            <a:ext cx="508869" cy="1374051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26913" y="2024565"/>
            <a:ext cx="7636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Only need to </a:t>
            </a:r>
            <a:r>
              <a:rPr lang="en-US" sz="3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extend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the distances between these points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6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description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485835" y="4498506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8" idx="4"/>
            <a:endCxn id="61" idx="0"/>
          </p:cNvCxnSpPr>
          <p:nvPr/>
        </p:nvCxnSpPr>
        <p:spPr>
          <a:xfrm flipH="1">
            <a:off x="3772533" y="4573726"/>
            <a:ext cx="911119" cy="951432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9" idx="4"/>
            <a:endCxn id="67" idx="7"/>
          </p:cNvCxnSpPr>
          <p:nvPr/>
        </p:nvCxnSpPr>
        <p:spPr>
          <a:xfrm flipH="1">
            <a:off x="2286309" y="4578083"/>
            <a:ext cx="858695" cy="969680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85835" y="3118030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611719" y="30398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709192" y="30398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973035" y="304282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7009313" y="303861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227206" y="303861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727383" y="303861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073071" y="304420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609511" y="44254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706984" y="442544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970827" y="442842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7007105" y="442421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224998" y="442421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725175" y="4424214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070863" y="4429802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>
            <a:off x="1485835" y="5604256"/>
            <a:ext cx="953117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698392" y="55251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795865" y="55251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5899159" y="551892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6996632" y="552392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8088284" y="5512097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191578" y="552604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159743" y="552604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>
            <a:stCxn id="47" idx="4"/>
            <a:endCxn id="65" idx="0"/>
          </p:cNvCxnSpPr>
          <p:nvPr/>
        </p:nvCxnSpPr>
        <p:spPr>
          <a:xfrm>
            <a:off x="7299139" y="4572494"/>
            <a:ext cx="863286" cy="939603"/>
          </a:xfrm>
          <a:prstGeom prst="straightConnector1">
            <a:avLst/>
          </a:prstGeom>
          <a:ln w="12700">
            <a:solidFill>
              <a:srgbClr val="FFC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5" idx="4"/>
            <a:endCxn id="62" idx="0"/>
          </p:cNvCxnSpPr>
          <p:nvPr/>
        </p:nvCxnSpPr>
        <p:spPr>
          <a:xfrm flipH="1">
            <a:off x="4870006" y="4576703"/>
            <a:ext cx="174962" cy="948455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44" idx="4"/>
            <a:endCxn id="63" idx="0"/>
          </p:cNvCxnSpPr>
          <p:nvPr/>
        </p:nvCxnSpPr>
        <p:spPr>
          <a:xfrm>
            <a:off x="5781125" y="4573726"/>
            <a:ext cx="192175" cy="945199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6" idx="4"/>
            <a:endCxn id="64" idx="0"/>
          </p:cNvCxnSpPr>
          <p:nvPr/>
        </p:nvCxnSpPr>
        <p:spPr>
          <a:xfrm flipH="1">
            <a:off x="7070773" y="4572494"/>
            <a:ext cx="10473" cy="951433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48" idx="4"/>
            <a:endCxn id="66" idx="0"/>
          </p:cNvCxnSpPr>
          <p:nvPr/>
        </p:nvCxnSpPr>
        <p:spPr>
          <a:xfrm flipH="1">
            <a:off x="9265719" y="4572495"/>
            <a:ext cx="533597" cy="953554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3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209 L 0.06029 1.85185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0.09049 4.81481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0.07318 -3.7037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0.14544 -3.7037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6 L 0.03047 -3.7037E-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7037E-7 L -0.07617 3.7037E-7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15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81481E-6 L -0.07486 0.00069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23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9 3.7037E-7 L -0.01054 -0.00093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-6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03 4.81481E-6 L 0.0151 4.81481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6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18 -3.7037E-6 L -6.25E-7 3.7037E-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33" y="46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5 3.7037E-7 L 0.06784 -0.00185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63" y="-139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47 -3.7037E-6 L -0.04284 -3.7037E-6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 </a:t>
            </a:r>
            <a:r>
              <a:rPr lang="en-US" sz="3600" dirty="0" smtClean="0"/>
              <a:t>Dynamic programming approach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24127" y="4173134"/>
                <a:ext cx="1010110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Subproblem: For each client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𝑞</m:t>
                    </m:r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, covers all points to the left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𝑞</m:t>
                    </m:r>
                  </m:oMath>
                </a14:m>
                <a:endParaRPr lang="en-US" sz="2000" dirty="0" smtClean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𝛼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: The length of the longest interval in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𝑂𝑃𝑇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for the </a:t>
                </a:r>
                <a:r>
                  <a:rPr lang="en-US" sz="2000" dirty="0" err="1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subproblem</a:t>
                </a:r>
                <a:endParaRPr lang="en-US" sz="2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4173134"/>
                <a:ext cx="10101103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604" b="-5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>
            <a:off x="1223349" y="2796601"/>
            <a:ext cx="990188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816115" y="272245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894571" y="271841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963502" y="2714363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Left Brace 53"/>
          <p:cNvSpPr/>
          <p:nvPr/>
        </p:nvSpPr>
        <p:spPr>
          <a:xfrm rot="5400000">
            <a:off x="7117231" y="1834504"/>
            <a:ext cx="223552" cy="1465797"/>
          </a:xfrm>
          <a:prstGeom prst="leftBrace">
            <a:avLst>
              <a:gd name="adj1" fmla="val 3167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2896702" y="272246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720490" y="2722459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550598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249127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9302265" y="2722459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7387418" y="2722458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7876327" y="27184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710514" y="2714362"/>
            <a:ext cx="148281" cy="148281"/>
          </a:xfrm>
          <a:prstGeom prst="ellipse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10337596" y="2720811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1834610" y="2720810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7071651" y="2091776"/>
                <a:ext cx="2908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651" y="2091776"/>
                <a:ext cx="29081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4583" r="-47917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9183939" y="2951074"/>
                <a:ext cx="444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939" y="2951074"/>
                <a:ext cx="44403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Oval 99"/>
          <p:cNvSpPr/>
          <p:nvPr/>
        </p:nvSpPr>
        <p:spPr>
          <a:xfrm>
            <a:off x="6450389" y="2713335"/>
            <a:ext cx="148281" cy="1482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1589821" y="3410915"/>
            <a:ext cx="429571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483766" y="3410915"/>
            <a:ext cx="285368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>
            <a:off x="1602164" y="3616655"/>
            <a:ext cx="489394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>
            <a:off x="7428646" y="3616655"/>
            <a:ext cx="192114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1602164" y="3822395"/>
            <a:ext cx="582648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7985654" y="3822395"/>
            <a:ext cx="136414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 118"/>
              <p:cNvSpPr/>
              <p:nvPr/>
            </p:nvSpPr>
            <p:spPr>
              <a:xfrm>
                <a:off x="5682360" y="2940882"/>
                <a:ext cx="4449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360" y="2940882"/>
                <a:ext cx="44492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6323570" y="2957204"/>
                <a:ext cx="5676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570" y="2957204"/>
                <a:ext cx="567655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2824029" y="5348581"/>
                <a:ext cx="6239400" cy="9155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∈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𝑄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max</m:t>
                                      </m:r>
                                    </m:e>
                                    <m:lim/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𝛼</m:t>
                                      </m:r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,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nsolas" panose="020B0609020204030204" pitchFamily="49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onsolas" panose="020B0609020204030204" pitchFamily="49" charset="0"/>
                                                </a:rPr>
                                                <m:t>𝑟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onsolas" panose="020B0609020204030204" pitchFamily="49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029" y="5348581"/>
                <a:ext cx="6239400" cy="91550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7337032" y="2971865"/>
                <a:ext cx="12990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,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032" y="2971865"/>
                <a:ext cx="129901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015719" y="2187851"/>
                <a:ext cx="8931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719" y="2187851"/>
                <a:ext cx="893129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513660" y="2196257"/>
                <a:ext cx="8940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anose="020B0609020204030204" pitchFamily="49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nsolas" panose="020B0609020204030204" pitchFamily="49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60" y="2196257"/>
                <a:ext cx="894027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04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8" grpId="0" animBg="1"/>
      <p:bldP spid="54" grpId="0" animBg="1"/>
      <p:bldP spid="72" grpId="0" animBg="1"/>
      <p:bldP spid="96" grpId="0"/>
      <p:bldP spid="98" grpId="0"/>
      <p:bldP spid="119" grpId="0"/>
      <p:bldP spid="123" grpId="0"/>
      <p:bldP spid="126" grpId="0"/>
      <p:bldP spid="127" grpId="0"/>
      <p:bldP spid="4" grpId="0"/>
      <p:bldP spid="4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Custom 1">
      <a:dk1>
        <a:srgbClr val="00206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9465</TotalTime>
  <Words>517</Words>
  <Application>Microsoft Office PowerPoint</Application>
  <PresentationFormat>Widescreen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Aparajita</vt:lpstr>
      <vt:lpstr>Arial</vt:lpstr>
      <vt:lpstr>Bookman Old Style</vt:lpstr>
      <vt:lpstr>Cambria Math</vt:lpstr>
      <vt:lpstr>Century Gothic</vt:lpstr>
      <vt:lpstr>Consolas</vt:lpstr>
      <vt:lpstr>FrankRuehl</vt:lpstr>
      <vt:lpstr>Monotype Corsiva</vt:lpstr>
      <vt:lpstr>Times New Roman</vt:lpstr>
      <vt:lpstr>Tw Cen MT</vt:lpstr>
      <vt:lpstr>Tw Cen MT Condensed</vt:lpstr>
      <vt:lpstr>Verdana</vt:lpstr>
      <vt:lpstr>Wingdings</vt:lpstr>
      <vt:lpstr>Wingdings 3</vt:lpstr>
      <vt:lpstr>Integral</vt:lpstr>
      <vt:lpstr>Wisp</vt:lpstr>
      <vt:lpstr>Algorithms for Minimizing the Movements of Spreading Points in Linear Domains</vt:lpstr>
      <vt:lpstr>Definition</vt:lpstr>
      <vt:lpstr>Definition</vt:lpstr>
      <vt:lpstr>Previous Work And Our Results</vt:lpstr>
      <vt:lpstr>Observation</vt:lpstr>
      <vt:lpstr>Observation (Cont.)</vt:lpstr>
      <vt:lpstr>Observation (Cont.)</vt:lpstr>
      <vt:lpstr>Observation (Cont.)</vt:lpstr>
      <vt:lpstr>Formula</vt:lpstr>
      <vt:lpstr>Observation</vt:lpstr>
      <vt:lpstr>Algorithm Description</vt:lpstr>
      <vt:lpstr>Algorithm Description (Cont.)</vt:lpstr>
      <vt:lpstr>Algorithm Description (Cont.)</vt:lpstr>
      <vt:lpstr>Cycle Version</vt:lpstr>
      <vt:lpstr>Observation</vt:lpstr>
      <vt:lpstr>If we start from the last point which did not move, our algorithm can solve the cycle version successfully</vt:lpstr>
      <vt:lpstr>The Facility-location Movement Problem</vt:lpstr>
      <vt:lpstr>Previous Work And Our Results</vt:lpstr>
      <vt:lpstr>Reducing The Problem To An Interval Coverage Problem</vt:lpstr>
      <vt:lpstr>A Dynamic Programming Approach</vt:lpstr>
      <vt:lpstr>Our Improvement</vt:lpstr>
      <vt:lpstr>SUMMARY</vt:lpstr>
      <vt:lpstr>observation</vt:lpstr>
      <vt:lpstr>observation</vt:lpstr>
      <vt:lpstr>Algorithm description</vt:lpstr>
      <vt:lpstr>a Dynamic programming approach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Shimin Lee</dc:creator>
  <cp:lastModifiedBy>Shimin</cp:lastModifiedBy>
  <cp:revision>166</cp:revision>
  <dcterms:created xsi:type="dcterms:W3CDTF">2015-06-12T15:47:10Z</dcterms:created>
  <dcterms:modified xsi:type="dcterms:W3CDTF">2015-08-04T02:10:54Z</dcterms:modified>
</cp:coreProperties>
</file>